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can use two model sources: a model running on this computer through Ollama (the default), or a hosted model on Hugging Face Inference Providers. The colours are used on every slide: blue = user interface, purple = LangChain, green = local model, teal = hosted model, amber =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inside 'This computer' runs locally: the browser, one Python process (Streamlit + LangChain) and, in local mode, the Ollama server. The sidebar switch decides which model block the chain uses. a) Local mode: ChatOllama talks to Ollama at localhost:11434, so nothing leaves the computer. b) Hosted mode: ChatHuggingFace calls the Hugging Face router, which checks the token, licence and credits and forwards the request to a provider. In both modes the answer is streamed back token by token.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1-4 always run on this computer. Then exactly one branch runs, depending on the Model source switch: 5a/6a in local mode (Ollama on localhost, no token, nothing leaves the machine), or 5b/6b in hosted mode, where the Hugging Face router checks the token, licence and credits; this is where 401, 402 and 403 errors come from. Steps 7-8 repeat for every chunk, which is why the answer appears gradually.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local mode when cost, privacy or offline use matter and a small model is good enough. Use hosted mode for bigger, better models without local hardware limits. Because both are LangChain chat models, the app switches between them by changing one block of the chain.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Adding the local mode only touched the model-integration and serving layers; the UI layout, the prompt template and the output parser are shared by both sources.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friendly_error() in app.py recognises the local Ollama errors by exception type (connection refused, model not found) and the Hugging Face errors by HTTP status code, and turns each into plain-language advice. check_access.py diagnoses token and access problems for the hosted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914400"/>
          </a:xfrm>
          <a:prstGeom prst="rect">
            <a:avLst/>
          </a:prstGeom>
          <a:noFill/>
        </p:spPr>
        <p:txBody>
          <a:bodyPr wrap="square" lIns="36576" rIns="36576" anchor="t">
            <a:spAutoFit/>
          </a:bodyPr>
          <a:lstStyle/>
          <a:p>
            <a:pPr algn="l"/>
            <a:r>
              <a:rPr sz="4400" b="1">
                <a:solidFill>
                  <a:srgbClr val="FFFFFF"/>
                </a:solidFill>
                <a:latin typeface="Calibri"/>
              </a:rPr>
              <a:t>Text Generation Playground</a:t>
            </a:r>
          </a:p>
        </p:txBody>
      </p:sp>
      <p:sp>
        <p:nvSpPr>
          <p:cNvPr id="4" name="TextBox 3"/>
          <p:cNvSpPr txBox="1"/>
          <p:nvPr/>
        </p:nvSpPr>
        <p:spPr>
          <a:xfrm>
            <a:off x="822960" y="2743200"/>
            <a:ext cx="10515600" cy="548640"/>
          </a:xfrm>
          <a:prstGeom prst="rect">
            <a:avLst/>
          </a:prstGeom>
          <a:noFill/>
        </p:spPr>
        <p:txBody>
          <a:bodyPr wrap="square" lIns="36576" rIns="36576" anchor="t">
            <a:spAutoFit/>
          </a:bodyPr>
          <a:lstStyle/>
          <a:p>
            <a:pPr algn="l"/>
            <a:r>
              <a:rPr sz="2600" b="0">
                <a:solidFill>
                  <a:srgbClr val="93C5FD"/>
                </a:solidFill>
                <a:latin typeface="Calibri"/>
              </a:rPr>
              <a:t>Architecture overview</a:t>
            </a:r>
          </a:p>
        </p:txBody>
      </p:sp>
      <p:sp>
        <p:nvSpPr>
          <p:cNvPr id="5" name="TextBox 4"/>
          <p:cNvSpPr txBox="1"/>
          <p:nvPr/>
        </p:nvSpPr>
        <p:spPr>
          <a:xfrm>
            <a:off x="822960" y="3657600"/>
            <a:ext cx="10515600" cy="822960"/>
          </a:xfrm>
          <a:prstGeom prst="rect">
            <a:avLst/>
          </a:prstGeom>
          <a:noFill/>
        </p:spPr>
        <p:txBody>
          <a:bodyPr wrap="square" lIns="36576" rIns="36576" anchor="t">
            <a:spAutoFit/>
          </a:bodyPr>
          <a:lstStyle/>
          <a:p>
            <a:pPr algn="l"/>
            <a:r>
              <a:rPr sz="1600" b="0">
                <a:solidFill>
                  <a:srgbClr val="CBD5E1"/>
                </a:solidFill>
                <a:latin typeface="Calibri"/>
              </a:rPr>
              <a:t>Streamlit  ·  LangChain  ·  a local model (Ollama) or a hosted model (Hugging Face)</a:t>
            </a:r>
          </a:p>
          <a:p>
            <a:pPr algn="l"/>
            <a:r>
              <a:rPr sz="1600" b="0">
                <a:solidFill>
                  <a:srgbClr val="CBD5E1"/>
                </a:solidFill>
                <a:latin typeface="Calibri"/>
              </a:rPr>
              <a:t>Type a prompt, pick a model, get the answer streamed back</a:t>
            </a:r>
          </a:p>
        </p:txBody>
      </p:sp>
      <p:sp>
        <p:nvSpPr>
          <p:cNvPr id="6" name="Rounded Rectangle 5"/>
          <p:cNvSpPr/>
          <p:nvPr/>
        </p:nvSpPr>
        <p:spPr>
          <a:xfrm>
            <a:off x="822960" y="5029200"/>
            <a:ext cx="1874519" cy="45720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User interface</a:t>
            </a:r>
          </a:p>
        </p:txBody>
      </p:sp>
      <p:sp>
        <p:nvSpPr>
          <p:cNvPr id="7" name="Rounded Rectangle 6"/>
          <p:cNvSpPr/>
          <p:nvPr/>
        </p:nvSpPr>
        <p:spPr>
          <a:xfrm>
            <a:off x="2880360" y="5029200"/>
            <a:ext cx="1874519" cy="457200"/>
          </a:xfrm>
          <a:prstGeom prst="round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Orchestration</a:t>
            </a:r>
          </a:p>
        </p:txBody>
      </p:sp>
      <p:sp>
        <p:nvSpPr>
          <p:cNvPr id="8" name="Rounded Rectangle 7"/>
          <p:cNvSpPr/>
          <p:nvPr/>
        </p:nvSpPr>
        <p:spPr>
          <a:xfrm>
            <a:off x="4937760" y="5029200"/>
            <a:ext cx="1874519" cy="457200"/>
          </a:xfrm>
          <a:prstGeom prst="roundRect">
            <a:avLst/>
          </a:prstGeom>
          <a:solidFill>
            <a:srgbClr val="1580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Local model</a:t>
            </a:r>
          </a:p>
        </p:txBody>
      </p:sp>
      <p:sp>
        <p:nvSpPr>
          <p:cNvPr id="9" name="Rounded Rectangle 8"/>
          <p:cNvSpPr/>
          <p:nvPr/>
        </p:nvSpPr>
        <p:spPr>
          <a:xfrm>
            <a:off x="6995160" y="5029200"/>
            <a:ext cx="1874519" cy="457200"/>
          </a:xfrm>
          <a:prstGeom prst="round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Hosted model</a:t>
            </a:r>
          </a:p>
        </p:txBody>
      </p:sp>
      <p:sp>
        <p:nvSpPr>
          <p:cNvPr id="10" name="Rounded Rectangle 9"/>
          <p:cNvSpPr/>
          <p:nvPr/>
        </p:nvSpPr>
        <p:spPr>
          <a:xfrm>
            <a:off x="9052560" y="5029200"/>
            <a:ext cx="1874519" cy="457200"/>
          </a:xfrm>
          <a:prstGeom prst="round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Calibri"/>
              </a:rPr>
              <a:t>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lIns="36576" rIns="36576" anchor="t">
            <a:spAutoFit/>
          </a:bodyPr>
          <a:lstStyle/>
          <a:p>
            <a:pPr algn="l"/>
            <a:r>
              <a:rPr sz="3000" b="1">
                <a:solidFill>
                  <a:srgbClr val="1F2937"/>
                </a:solidFill>
                <a:latin typeface="Calibri"/>
              </a:rPr>
              <a:t>System architecture</a:t>
            </a:r>
          </a:p>
        </p:txBody>
      </p:sp>
      <p:sp>
        <p:nvSpPr>
          <p:cNvPr id="3" name="TextBox 2"/>
          <p:cNvSpPr txBox="1"/>
          <p:nvPr/>
        </p:nvSpPr>
        <p:spPr>
          <a:xfrm>
            <a:off x="548640" y="914400"/>
            <a:ext cx="11064240" cy="411480"/>
          </a:xfrm>
          <a:prstGeom prst="rect">
            <a:avLst/>
          </a:prstGeom>
          <a:noFill/>
        </p:spPr>
        <p:txBody>
          <a:bodyPr wrap="square" lIns="36576" rIns="36576" anchor="t">
            <a:spAutoFit/>
          </a:bodyPr>
          <a:lstStyle/>
          <a:p>
            <a:pPr algn="l"/>
            <a:r>
              <a:rPr sz="1500" b="0">
                <a:solidFill>
                  <a:srgbClr val="5B6778"/>
                </a:solidFill>
                <a:latin typeface="Calibri"/>
              </a:rPr>
              <a:t>One app, two places the model can run: on this computer, or in the cloud</a:t>
            </a:r>
          </a:p>
        </p:txBody>
      </p:sp>
      <p:sp>
        <p:nvSpPr>
          <p:cNvPr id="4" name="Rectangle 3"/>
          <p:cNvSpPr/>
          <p:nvPr/>
        </p:nvSpPr>
        <p:spPr>
          <a:xfrm>
            <a:off x="548640" y="1371600"/>
            <a:ext cx="10972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65760" y="1645920"/>
            <a:ext cx="7452360" cy="4572000"/>
          </a:xfrm>
          <a:prstGeom prst="roundRect">
            <a:avLst>
              <a:gd name="adj" fmla="val 5000"/>
            </a:avLst>
          </a:prstGeom>
          <a:solidFill>
            <a:srgbClr val="FAFCFF"/>
          </a:solidFill>
          <a:ln w="15875">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00784"/>
            <a:ext cx="7178040" cy="320040"/>
          </a:xfrm>
          <a:prstGeom prst="rect">
            <a:avLst/>
          </a:prstGeom>
          <a:noFill/>
        </p:spPr>
        <p:txBody>
          <a:bodyPr wrap="square" lIns="36576" rIns="36576" anchor="t">
            <a:spAutoFit/>
          </a:bodyPr>
          <a:lstStyle/>
          <a:p>
            <a:pPr algn="l"/>
            <a:r>
              <a:rPr sz="1200" b="1">
                <a:solidFill>
                  <a:srgbClr val="2563EB"/>
                </a:solidFill>
                <a:latin typeface="Calibri"/>
              </a:rPr>
              <a:t>THIS COMPUTER</a:t>
            </a:r>
          </a:p>
        </p:txBody>
      </p:sp>
      <p:sp>
        <p:nvSpPr>
          <p:cNvPr id="7" name="Rounded Rectangle 6"/>
          <p:cNvSpPr/>
          <p:nvPr/>
        </p:nvSpPr>
        <p:spPr>
          <a:xfrm>
            <a:off x="594360" y="2103120"/>
            <a:ext cx="1691640" cy="2240280"/>
          </a:xfrm>
          <a:prstGeom prst="roundRect">
            <a:avLst>
              <a:gd name="adj" fmla="val 12000"/>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2563EB"/>
                </a:solidFill>
                <a:latin typeface="Calibri"/>
              </a:rPr>
              <a:t>Web browser</a:t>
            </a:r>
          </a:p>
          <a:p>
            <a:pPr algn="ctr"/>
            <a:r>
              <a:rPr sz="1100" b="0">
                <a:solidFill>
                  <a:srgbClr val="1F2937"/>
                </a:solidFill>
                <a:latin typeface="Calibri"/>
              </a:rPr>
              <a:t>localhost:8501</a:t>
            </a:r>
          </a:p>
          <a:p>
            <a:pPr algn="ctr"/>
            <a:r>
              <a:rPr sz="1100" b="0">
                <a:solidFill>
                  <a:srgbClr val="1F2937"/>
                </a:solidFill>
                <a:latin typeface="Calibri"/>
              </a:rPr>
              <a:t/>
            </a:r>
          </a:p>
          <a:p>
            <a:pPr algn="ctr"/>
            <a:r>
              <a:rPr sz="1100" b="0">
                <a:solidFill>
                  <a:srgbClr val="1F2937"/>
                </a:solidFill>
                <a:latin typeface="Calibri"/>
              </a:rPr>
              <a:t>source switch</a:t>
            </a:r>
          </a:p>
          <a:p>
            <a:pPr algn="ctr"/>
            <a:r>
              <a:rPr sz="1100" b="0">
                <a:solidFill>
                  <a:srgbClr val="1F2937"/>
                </a:solidFill>
                <a:latin typeface="Calibri"/>
              </a:rPr>
              <a:t>model · prompt</a:t>
            </a:r>
          </a:p>
          <a:p>
            <a:pPr algn="ctr"/>
            <a:r>
              <a:rPr sz="1100" b="0">
                <a:solidFill>
                  <a:srgbClr val="1F2937"/>
                </a:solidFill>
                <a:latin typeface="Calibri"/>
              </a:rPr>
              <a:t>sliders</a:t>
            </a:r>
          </a:p>
          <a:p>
            <a:pPr algn="ctr"/>
            <a:r>
              <a:rPr sz="1100" b="0">
                <a:solidFill>
                  <a:srgbClr val="1F2937"/>
                </a:solidFill>
                <a:latin typeface="Calibri"/>
              </a:rPr>
              <a:t>streamed answer</a:t>
            </a:r>
          </a:p>
        </p:txBody>
      </p:sp>
      <p:sp>
        <p:nvSpPr>
          <p:cNvPr id="8" name="Rounded Rectangle 7"/>
          <p:cNvSpPr/>
          <p:nvPr/>
        </p:nvSpPr>
        <p:spPr>
          <a:xfrm>
            <a:off x="2606040" y="2011680"/>
            <a:ext cx="4983480" cy="2514600"/>
          </a:xfrm>
          <a:prstGeom prst="roundRect">
            <a:avLst>
              <a:gd name="adj" fmla="val 5000"/>
            </a:avLst>
          </a:prstGeom>
          <a:solidFill>
            <a:srgbClr val="FFFFFF"/>
          </a:solidFill>
          <a:ln w="15875">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066544"/>
            <a:ext cx="4709160" cy="320040"/>
          </a:xfrm>
          <a:prstGeom prst="rect">
            <a:avLst/>
          </a:prstGeom>
          <a:noFill/>
        </p:spPr>
        <p:txBody>
          <a:bodyPr wrap="square" lIns="36576" rIns="36576" anchor="t">
            <a:spAutoFit/>
          </a:bodyPr>
          <a:lstStyle/>
          <a:p>
            <a:pPr algn="l"/>
            <a:r>
              <a:rPr sz="1200" b="1">
                <a:solidFill>
                  <a:srgbClr val="2563EB"/>
                </a:solidFill>
                <a:latin typeface="Calibri"/>
              </a:rPr>
              <a:t>app.py  ·  Streamlit server</a:t>
            </a:r>
          </a:p>
        </p:txBody>
      </p:sp>
      <p:sp>
        <p:nvSpPr>
          <p:cNvPr id="10" name="Rounded Rectangle 9"/>
          <p:cNvSpPr/>
          <p:nvPr/>
        </p:nvSpPr>
        <p:spPr>
          <a:xfrm>
            <a:off x="2788920" y="2395728"/>
            <a:ext cx="4617720" cy="566928"/>
          </a:xfrm>
          <a:prstGeom prst="roundRect">
            <a:avLst>
              <a:gd name="adj" fmla="val 12000"/>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563EB"/>
                </a:solidFill>
                <a:latin typeface="Calibri"/>
              </a:rPr>
              <a:t>Streamlit UI</a:t>
            </a:r>
          </a:p>
          <a:p>
            <a:pPr algn="ctr"/>
            <a:r>
              <a:rPr sz="1000" b="0">
                <a:solidFill>
                  <a:srgbClr val="1F2937"/>
                </a:solidFill>
                <a:latin typeface="Calibri"/>
              </a:rPr>
              <a:t>Model source: Local (Ollama) | Hugging Face (hosted)</a:t>
            </a:r>
          </a:p>
        </p:txBody>
      </p:sp>
      <p:sp>
        <p:nvSpPr>
          <p:cNvPr id="11" name="Rounded Rectangle 10"/>
          <p:cNvSpPr/>
          <p:nvPr/>
        </p:nvSpPr>
        <p:spPr>
          <a:xfrm>
            <a:off x="2788920" y="3063240"/>
            <a:ext cx="4617720" cy="1325880"/>
          </a:xfrm>
          <a:prstGeom prst="roundRect">
            <a:avLst>
              <a:gd name="adj" fmla="val 5000"/>
            </a:avLst>
          </a:prstGeom>
          <a:solidFill>
            <a:srgbClr val="F1EAFE"/>
          </a:solidFill>
          <a:ln w="15875">
            <a:solidFill>
              <a:srgbClr val="7C3AE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79" y="3118104"/>
            <a:ext cx="4343400" cy="320040"/>
          </a:xfrm>
          <a:prstGeom prst="rect">
            <a:avLst/>
          </a:prstGeom>
          <a:noFill/>
        </p:spPr>
        <p:txBody>
          <a:bodyPr wrap="square" lIns="36576" rIns="36576" anchor="t">
            <a:spAutoFit/>
          </a:bodyPr>
          <a:lstStyle/>
          <a:p>
            <a:pPr algn="l"/>
            <a:r>
              <a:rPr sz="1200" b="1">
                <a:solidFill>
                  <a:srgbClr val="7C3AED"/>
                </a:solidFill>
                <a:latin typeface="Calibri"/>
              </a:rPr>
              <a:t>LangChain chain (LCEL)</a:t>
            </a:r>
          </a:p>
        </p:txBody>
      </p:sp>
      <p:sp>
        <p:nvSpPr>
          <p:cNvPr id="13" name="Rounded Rectangle 12"/>
          <p:cNvSpPr/>
          <p:nvPr/>
        </p:nvSpPr>
        <p:spPr>
          <a:xfrm>
            <a:off x="2926080" y="3429000"/>
            <a:ext cx="1234440" cy="822960"/>
          </a:xfrm>
          <a:prstGeom prst="roundRect">
            <a:avLst>
              <a:gd name="adj" fmla="val 12000"/>
            </a:avLst>
          </a:prstGeom>
          <a:solidFill>
            <a:srgbClr val="FFFF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7C3AED"/>
                </a:solidFill>
                <a:latin typeface="Calibri"/>
              </a:rPr>
              <a:t>ChatPrompt
Template</a:t>
            </a:r>
          </a:p>
          <a:p>
            <a:pPr algn="ctr"/>
            <a:r>
              <a:rPr sz="900" b="0">
                <a:solidFill>
                  <a:srgbClr val="1F2937"/>
                </a:solidFill>
                <a:latin typeface="Calibri"/>
              </a:rPr>
              <a:t>system + user</a:t>
            </a:r>
          </a:p>
        </p:txBody>
      </p:sp>
      <p:sp>
        <p:nvSpPr>
          <p:cNvPr id="14" name="Rounded Rectangle 13"/>
          <p:cNvSpPr/>
          <p:nvPr/>
        </p:nvSpPr>
        <p:spPr>
          <a:xfrm>
            <a:off x="4434840" y="3401568"/>
            <a:ext cx="1463040" cy="420624"/>
          </a:xfrm>
          <a:prstGeom prst="roundRect">
            <a:avLst>
              <a:gd name="adj" fmla="val 12000"/>
            </a:avLst>
          </a:prstGeom>
          <a:solidFill>
            <a:srgbClr val="E8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5803D"/>
                </a:solidFill>
                <a:latin typeface="Calibri"/>
              </a:rPr>
              <a:t>ChatOllama</a:t>
            </a:r>
          </a:p>
        </p:txBody>
      </p:sp>
      <p:sp>
        <p:nvSpPr>
          <p:cNvPr id="15" name="Rounded Rectangle 14"/>
          <p:cNvSpPr/>
          <p:nvPr/>
        </p:nvSpPr>
        <p:spPr>
          <a:xfrm>
            <a:off x="4434840" y="3877056"/>
            <a:ext cx="1463040" cy="420624"/>
          </a:xfrm>
          <a:prstGeom prst="roundRect">
            <a:avLst>
              <a:gd name="adj" fmla="val 12000"/>
            </a:avLst>
          </a:prstGeom>
          <a:solidFill>
            <a:srgbClr val="E6F6F4"/>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F766E"/>
                </a:solidFill>
                <a:latin typeface="Calibri"/>
              </a:rPr>
              <a:t>ChatHuggingFace</a:t>
            </a:r>
          </a:p>
        </p:txBody>
      </p:sp>
      <p:sp>
        <p:nvSpPr>
          <p:cNvPr id="16" name="Rounded Rectangle 15"/>
          <p:cNvSpPr/>
          <p:nvPr/>
        </p:nvSpPr>
        <p:spPr>
          <a:xfrm>
            <a:off x="6172200" y="3429000"/>
            <a:ext cx="1097280" cy="822960"/>
          </a:xfrm>
          <a:prstGeom prst="roundRect">
            <a:avLst>
              <a:gd name="adj" fmla="val 12000"/>
            </a:avLst>
          </a:prstGeom>
          <a:solidFill>
            <a:srgbClr val="FFFF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7C3AED"/>
                </a:solidFill>
                <a:latin typeface="Calibri"/>
              </a:rPr>
              <a:t>StrOutput
Parser</a:t>
            </a:r>
          </a:p>
          <a:p>
            <a:pPr algn="ctr"/>
            <a:r>
              <a:rPr sz="900" b="0">
                <a:solidFill>
                  <a:srgbClr val="1F2937"/>
                </a:solidFill>
                <a:latin typeface="Calibri"/>
              </a:rPr>
              <a:t>→ plain text</a:t>
            </a:r>
          </a:p>
        </p:txBody>
      </p:sp>
      <p:cxnSp>
        <p:nvCxnSpPr>
          <p:cNvPr id="17" name="Connector 16"/>
          <p:cNvCxnSpPr/>
          <p:nvPr/>
        </p:nvCxnSpPr>
        <p:spPr>
          <a:xfrm flipV="1">
            <a:off x="4160520" y="3611880"/>
            <a:ext cx="274320" cy="228600"/>
          </a:xfrm>
          <a:prstGeom prst="line">
            <a:avLst/>
          </a:prstGeom>
          <a:ln w="158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160520" y="3840480"/>
            <a:ext cx="274320" cy="246888"/>
          </a:xfrm>
          <a:prstGeom prst="line">
            <a:avLst/>
          </a:prstGeom>
          <a:ln w="158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97880" y="3611880"/>
            <a:ext cx="274320" cy="228600"/>
          </a:xfrm>
          <a:prstGeom prst="line">
            <a:avLst/>
          </a:prstGeom>
          <a:ln w="158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897880" y="3840480"/>
            <a:ext cx="274320" cy="246888"/>
          </a:xfrm>
          <a:prstGeom prst="line">
            <a:avLst/>
          </a:prstGeom>
          <a:ln w="158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120640" y="3090672"/>
            <a:ext cx="2240280" cy="274320"/>
          </a:xfrm>
          <a:prstGeom prst="rect">
            <a:avLst/>
          </a:prstGeom>
          <a:noFill/>
        </p:spPr>
        <p:txBody>
          <a:bodyPr wrap="square" lIns="36576" rIns="36576" anchor="t">
            <a:spAutoFit/>
          </a:bodyPr>
          <a:lstStyle/>
          <a:p>
            <a:pPr algn="r"/>
            <a:r>
              <a:rPr sz="900" b="0">
                <a:solidFill>
                  <a:srgbClr val="5B6778"/>
                </a:solidFill>
                <a:latin typeface="Calibri"/>
              </a:rPr>
              <a:t>one of the two, per the switch</a:t>
            </a:r>
          </a:p>
        </p:txBody>
      </p:sp>
      <p:sp>
        <p:nvSpPr>
          <p:cNvPr id="22" name="Rounded Rectangle 21"/>
          <p:cNvSpPr/>
          <p:nvPr/>
        </p:nvSpPr>
        <p:spPr>
          <a:xfrm>
            <a:off x="594360" y="4709160"/>
            <a:ext cx="3108960" cy="1325880"/>
          </a:xfrm>
          <a:prstGeom prst="roundRect">
            <a:avLst>
              <a:gd name="adj" fmla="val 12000"/>
            </a:avLst>
          </a:prstGeom>
          <a:solidFill>
            <a:srgbClr val="E8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5803D"/>
                </a:solidFill>
                <a:latin typeface="Calibri"/>
              </a:rPr>
              <a:t>Ollama  ·  localhost:11434</a:t>
            </a:r>
          </a:p>
          <a:p>
            <a:pPr algn="ctr"/>
            <a:r>
              <a:rPr sz="1000" b="0">
                <a:solidFill>
                  <a:srgbClr val="1F2937"/>
                </a:solidFill>
                <a:latin typeface="Calibri"/>
              </a:rPr>
              <a:t>runs a downloaded model</a:t>
            </a:r>
          </a:p>
          <a:p>
            <a:pPr algn="ctr"/>
            <a:r>
              <a:rPr sz="1000" b="0">
                <a:solidFill>
                  <a:srgbClr val="1F2937"/>
                </a:solidFill>
                <a:latin typeface="Calibri"/>
              </a:rPr>
              <a:t>(e.g. llama3.2) on this computer</a:t>
            </a:r>
          </a:p>
          <a:p>
            <a:pPr algn="ctr"/>
            <a:r>
              <a:rPr sz="1000" b="0">
                <a:solidFill>
                  <a:srgbClr val="1F2937"/>
                </a:solidFill>
                <a:latin typeface="Calibri"/>
              </a:rPr>
              <a:t>free · private · no token · offline</a:t>
            </a:r>
          </a:p>
        </p:txBody>
      </p:sp>
      <p:sp>
        <p:nvSpPr>
          <p:cNvPr id="23" name="Rounded Rectangle 22"/>
          <p:cNvSpPr/>
          <p:nvPr/>
        </p:nvSpPr>
        <p:spPr>
          <a:xfrm>
            <a:off x="3977639" y="4709160"/>
            <a:ext cx="3611880" cy="621792"/>
          </a:xfrm>
          <a:prstGeom prst="roundRect">
            <a:avLst>
              <a:gd name="adj" fmla="val 12000"/>
            </a:avLst>
          </a:prstGeom>
          <a:solidFill>
            <a:srgbClr val="FEF3E2"/>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B45309"/>
                </a:solidFill>
                <a:latin typeface="Calibri"/>
              </a:rPr>
              <a:t>Token sources (Hugging Face mode only)</a:t>
            </a:r>
          </a:p>
          <a:p>
            <a:pPr algn="ctr"/>
            <a:r>
              <a:rPr sz="1000" b="0">
                <a:solidFill>
                  <a:srgbClr val="1F2937"/>
                </a:solidFill>
                <a:latin typeface="Calibri"/>
              </a:rPr>
              <a:t>1 sidebar · 2 secrets.toml · 3 HF_TOKEN env</a:t>
            </a:r>
          </a:p>
        </p:txBody>
      </p:sp>
      <p:sp>
        <p:nvSpPr>
          <p:cNvPr id="24" name="Rounded Rectangle 23"/>
          <p:cNvSpPr/>
          <p:nvPr/>
        </p:nvSpPr>
        <p:spPr>
          <a:xfrm>
            <a:off x="3977639" y="5413248"/>
            <a:ext cx="3611880" cy="621792"/>
          </a:xfrm>
          <a:prstGeom prst="roundRect">
            <a:avLst>
              <a:gd name="adj" fmla="val 12000"/>
            </a:avLst>
          </a:prstGeom>
          <a:solidFill>
            <a:srgbClr val="E6F6F4"/>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0F766E"/>
                </a:solidFill>
                <a:latin typeface="Calibri"/>
              </a:rPr>
              <a:t>huggingface_hub client</a:t>
            </a:r>
          </a:p>
          <a:p>
            <a:pPr algn="ctr"/>
            <a:r>
              <a:rPr sz="1000" b="0">
                <a:solidFill>
                  <a:srgbClr val="1F2937"/>
                </a:solidFill>
                <a:latin typeface="Calibri"/>
              </a:rPr>
              <a:t>HTTPS · streaming · Bearer token</a:t>
            </a:r>
          </a:p>
        </p:txBody>
      </p:sp>
      <p:sp>
        <p:nvSpPr>
          <p:cNvPr id="25" name="Rounded Rectangle 24"/>
          <p:cNvSpPr/>
          <p:nvPr/>
        </p:nvSpPr>
        <p:spPr>
          <a:xfrm>
            <a:off x="8138160" y="1645920"/>
            <a:ext cx="3703320" cy="4572000"/>
          </a:xfrm>
          <a:prstGeom prst="roundRect">
            <a:avLst>
              <a:gd name="adj" fmla="val 5000"/>
            </a:avLst>
          </a:prstGeom>
          <a:solidFill>
            <a:srgbClr val="F8FDFC"/>
          </a:solidFill>
          <a:ln w="15875">
            <a:solidFill>
              <a:srgbClr val="0F76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20" y="1700784"/>
            <a:ext cx="3429000" cy="320040"/>
          </a:xfrm>
          <a:prstGeom prst="rect">
            <a:avLst/>
          </a:prstGeom>
          <a:noFill/>
        </p:spPr>
        <p:txBody>
          <a:bodyPr wrap="square" lIns="36576" rIns="36576" anchor="t">
            <a:spAutoFit/>
          </a:bodyPr>
          <a:lstStyle/>
          <a:p>
            <a:pPr algn="l"/>
            <a:r>
              <a:rPr sz="1200" b="1">
                <a:solidFill>
                  <a:srgbClr val="0F766E"/>
                </a:solidFill>
                <a:latin typeface="Calibri"/>
              </a:rPr>
              <a:t>HUGGING FACE CLOUD</a:t>
            </a:r>
          </a:p>
        </p:txBody>
      </p:sp>
      <p:sp>
        <p:nvSpPr>
          <p:cNvPr id="27" name="Rounded Rectangle 26"/>
          <p:cNvSpPr/>
          <p:nvPr/>
        </p:nvSpPr>
        <p:spPr>
          <a:xfrm>
            <a:off x="8366760" y="2103120"/>
            <a:ext cx="3246120" cy="1051560"/>
          </a:xfrm>
          <a:prstGeom prst="roundRect">
            <a:avLst>
              <a:gd name="adj" fmla="val 12000"/>
            </a:avLst>
          </a:prstGeom>
          <a:solidFill>
            <a:srgbClr val="E6F6F4"/>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F766E"/>
                </a:solidFill>
                <a:latin typeface="Calibri"/>
              </a:rPr>
              <a:t>Inference router</a:t>
            </a:r>
          </a:p>
          <a:p>
            <a:pPr algn="ctr"/>
            <a:r>
              <a:rPr sz="1000" b="0">
                <a:solidFill>
                  <a:srgbClr val="1F2937"/>
                </a:solidFill>
                <a:latin typeface="Calibri"/>
              </a:rPr>
              <a:t>router.huggingface.co</a:t>
            </a:r>
          </a:p>
          <a:p>
            <a:pPr algn="ctr"/>
            <a:r>
              <a:rPr sz="1000" b="0">
                <a:solidFill>
                  <a:srgbClr val="1F2937"/>
                </a:solidFill>
                <a:latin typeface="Calibri"/>
              </a:rPr>
              <a:t>checks token · licence · credits</a:t>
            </a:r>
          </a:p>
        </p:txBody>
      </p:sp>
      <p:sp>
        <p:nvSpPr>
          <p:cNvPr id="28" name="Rounded Rectangle 27"/>
          <p:cNvSpPr/>
          <p:nvPr/>
        </p:nvSpPr>
        <p:spPr>
          <a:xfrm>
            <a:off x="8366760" y="3520440"/>
            <a:ext cx="1581912" cy="530352"/>
          </a:xfrm>
          <a:prstGeom prst="roundRect">
            <a:avLst>
              <a:gd name="adj" fmla="val 12000"/>
            </a:avLst>
          </a:prstGeom>
          <a:solidFill>
            <a:srgbClr val="F3F4F6"/>
          </a:solidFill>
          <a:ln w="19050">
            <a:solidFill>
              <a:srgbClr val="8A94A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2937"/>
                </a:solidFill>
                <a:latin typeface="Calibri"/>
              </a:rPr>
              <a:t>groq</a:t>
            </a:r>
          </a:p>
        </p:txBody>
      </p:sp>
      <p:sp>
        <p:nvSpPr>
          <p:cNvPr id="29" name="Rounded Rectangle 28"/>
          <p:cNvSpPr/>
          <p:nvPr/>
        </p:nvSpPr>
        <p:spPr>
          <a:xfrm>
            <a:off x="10030968" y="3520440"/>
            <a:ext cx="1581912" cy="530352"/>
          </a:xfrm>
          <a:prstGeom prst="roundRect">
            <a:avLst>
              <a:gd name="adj" fmla="val 12000"/>
            </a:avLst>
          </a:prstGeom>
          <a:solidFill>
            <a:srgbClr val="F3F4F6"/>
          </a:solidFill>
          <a:ln w="19050">
            <a:solidFill>
              <a:srgbClr val="8A94A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2937"/>
                </a:solidFill>
                <a:latin typeface="Calibri"/>
              </a:rPr>
              <a:t>nscale</a:t>
            </a:r>
          </a:p>
        </p:txBody>
      </p:sp>
      <p:sp>
        <p:nvSpPr>
          <p:cNvPr id="30" name="Rounded Rectangle 29"/>
          <p:cNvSpPr/>
          <p:nvPr/>
        </p:nvSpPr>
        <p:spPr>
          <a:xfrm>
            <a:off x="8366760" y="4160520"/>
            <a:ext cx="1581912" cy="530352"/>
          </a:xfrm>
          <a:prstGeom prst="roundRect">
            <a:avLst>
              <a:gd name="adj" fmla="val 12000"/>
            </a:avLst>
          </a:prstGeom>
          <a:solidFill>
            <a:srgbClr val="F3F4F6"/>
          </a:solidFill>
          <a:ln w="19050">
            <a:solidFill>
              <a:srgbClr val="8A94A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2937"/>
                </a:solidFill>
                <a:latin typeface="Calibri"/>
              </a:rPr>
              <a:t>deepinfra</a:t>
            </a:r>
          </a:p>
        </p:txBody>
      </p:sp>
      <p:sp>
        <p:nvSpPr>
          <p:cNvPr id="31" name="Rounded Rectangle 30"/>
          <p:cNvSpPr/>
          <p:nvPr/>
        </p:nvSpPr>
        <p:spPr>
          <a:xfrm>
            <a:off x="10030968" y="4160520"/>
            <a:ext cx="1581912" cy="530352"/>
          </a:xfrm>
          <a:prstGeom prst="roundRect">
            <a:avLst>
              <a:gd name="adj" fmla="val 12000"/>
            </a:avLst>
          </a:prstGeom>
          <a:solidFill>
            <a:srgbClr val="F3F4F6"/>
          </a:solidFill>
          <a:ln w="19050">
            <a:solidFill>
              <a:srgbClr val="8A94A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F2937"/>
                </a:solidFill>
                <a:latin typeface="Calibri"/>
              </a:rPr>
              <a:t>featherless-ai</a:t>
            </a:r>
          </a:p>
        </p:txBody>
      </p:sp>
      <p:sp>
        <p:nvSpPr>
          <p:cNvPr id="32" name="TextBox 31"/>
          <p:cNvSpPr txBox="1"/>
          <p:nvPr/>
        </p:nvSpPr>
        <p:spPr>
          <a:xfrm>
            <a:off x="8366760" y="4846320"/>
            <a:ext cx="3246120" cy="548640"/>
          </a:xfrm>
          <a:prstGeom prst="rect">
            <a:avLst/>
          </a:prstGeom>
          <a:noFill/>
        </p:spPr>
        <p:txBody>
          <a:bodyPr wrap="square" lIns="36576" rIns="36576" anchor="t">
            <a:spAutoFit/>
          </a:bodyPr>
          <a:lstStyle/>
          <a:p>
            <a:pPr algn="ctr"/>
            <a:r>
              <a:rPr sz="1000" b="0">
                <a:solidFill>
                  <a:srgbClr val="5B6778"/>
                </a:solidFill>
                <a:latin typeface="Calibri"/>
              </a:rPr>
              <a:t>Inference providers run large</a:t>
            </a:r>
          </a:p>
          <a:p>
            <a:pPr algn="ctr"/>
            <a:r>
              <a:rPr sz="1000" b="0">
                <a:solidFill>
                  <a:srgbClr val="5B6778"/>
                </a:solidFill>
                <a:latin typeface="Calibri"/>
              </a:rPr>
              <a:t>models on GPUs (paid, needs a token)</a:t>
            </a:r>
          </a:p>
        </p:txBody>
      </p:sp>
      <p:cxnSp>
        <p:nvCxnSpPr>
          <p:cNvPr id="33" name="Connector 32"/>
          <p:cNvCxnSpPr/>
          <p:nvPr/>
        </p:nvCxnSpPr>
        <p:spPr>
          <a:xfrm flipV="1">
            <a:off x="2286000" y="2697480"/>
            <a:ext cx="502920" cy="228600"/>
          </a:xfrm>
          <a:prstGeom prst="line">
            <a:avLst/>
          </a:prstGeom>
          <a:ln w="25400">
            <a:solidFill>
              <a:srgbClr val="2563EB"/>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093208" y="2962656"/>
            <a:ext cx="0" cy="100584"/>
          </a:xfrm>
          <a:prstGeom prst="line">
            <a:avLst/>
          </a:prstGeom>
          <a:ln w="1587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2377440" y="4389120"/>
            <a:ext cx="914400" cy="320040"/>
          </a:xfrm>
          <a:prstGeom prst="line">
            <a:avLst/>
          </a:prstGeom>
          <a:ln w="28575">
            <a:solidFill>
              <a:srgbClr val="15803D"/>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94360" y="4407408"/>
            <a:ext cx="1828800" cy="274320"/>
          </a:xfrm>
          <a:prstGeom prst="rect">
            <a:avLst/>
          </a:prstGeom>
          <a:noFill/>
        </p:spPr>
        <p:txBody>
          <a:bodyPr wrap="square" lIns="36576" rIns="36576" anchor="t">
            <a:spAutoFit/>
          </a:bodyPr>
          <a:lstStyle/>
          <a:p>
            <a:pPr algn="l"/>
            <a:r>
              <a:rPr sz="1000" b="1">
                <a:solidFill>
                  <a:srgbClr val="15803D"/>
                </a:solidFill>
                <a:latin typeface="Calibri"/>
              </a:rPr>
              <a:t>a) Local: HTTP</a:t>
            </a:r>
          </a:p>
        </p:txBody>
      </p:sp>
      <p:cxnSp>
        <p:nvCxnSpPr>
          <p:cNvPr id="37" name="Connector 36"/>
          <p:cNvCxnSpPr/>
          <p:nvPr/>
        </p:nvCxnSpPr>
        <p:spPr>
          <a:xfrm>
            <a:off x="5760720" y="4297680"/>
            <a:ext cx="0" cy="1115568"/>
          </a:xfrm>
          <a:prstGeom prst="line">
            <a:avLst/>
          </a:prstGeom>
          <a:ln w="19050">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589520" y="2651760"/>
            <a:ext cx="777240" cy="3072384"/>
          </a:xfrm>
          <a:prstGeom prst="line">
            <a:avLst/>
          </a:prstGeom>
          <a:ln w="28575">
            <a:solidFill>
              <a:srgbClr val="0F766E"/>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537960" y="6245352"/>
            <a:ext cx="3200400" cy="228600"/>
          </a:xfrm>
          <a:prstGeom prst="rect">
            <a:avLst/>
          </a:prstGeom>
          <a:noFill/>
        </p:spPr>
        <p:txBody>
          <a:bodyPr wrap="square" lIns="36576" rIns="36576" anchor="t">
            <a:spAutoFit/>
          </a:bodyPr>
          <a:lstStyle/>
          <a:p>
            <a:pPr algn="ctr"/>
            <a:r>
              <a:rPr sz="1000" b="1">
                <a:solidFill>
                  <a:srgbClr val="0F766E"/>
                </a:solidFill>
                <a:latin typeface="Calibri"/>
              </a:rPr>
              <a:t>b) Hosted: HTTPS, answer streamed back</a:t>
            </a:r>
          </a:p>
        </p:txBody>
      </p:sp>
      <p:cxnSp>
        <p:nvCxnSpPr>
          <p:cNvPr id="40" name="Connector 39"/>
          <p:cNvCxnSpPr/>
          <p:nvPr/>
        </p:nvCxnSpPr>
        <p:spPr>
          <a:xfrm>
            <a:off x="9985248" y="3154680"/>
            <a:ext cx="0" cy="365760"/>
          </a:xfrm>
          <a:prstGeom prst="line">
            <a:avLst/>
          </a:prstGeom>
          <a:ln w="19050">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48640" y="6446520"/>
            <a:ext cx="8229600" cy="274320"/>
          </a:xfrm>
          <a:prstGeom prst="rect">
            <a:avLst/>
          </a:prstGeom>
          <a:noFill/>
        </p:spPr>
        <p:txBody>
          <a:bodyPr wrap="square" lIns="36576" rIns="36576" anchor="t">
            <a:spAutoFit/>
          </a:bodyPr>
          <a:lstStyle/>
          <a:p>
            <a:pPr algn="l"/>
            <a:r>
              <a:rPr sz="1000" b="0">
                <a:solidFill>
                  <a:srgbClr val="8A94A3"/>
                </a:solidFill>
                <a:latin typeface="Calibri"/>
              </a:rPr>
              <a:t>Text Generation Playground  ·  09-ai-competencies/inference-model-apis/text-generation-app</a:t>
            </a:r>
          </a:p>
        </p:txBody>
      </p:sp>
      <p:sp>
        <p:nvSpPr>
          <p:cNvPr id="42" name="TextBox 41"/>
          <p:cNvSpPr txBox="1"/>
          <p:nvPr/>
        </p:nvSpPr>
        <p:spPr>
          <a:xfrm>
            <a:off x="10881360" y="6446520"/>
            <a:ext cx="822960" cy="274320"/>
          </a:xfrm>
          <a:prstGeom prst="rect">
            <a:avLst/>
          </a:prstGeom>
          <a:noFill/>
        </p:spPr>
        <p:txBody>
          <a:bodyPr wrap="square" lIns="36576" rIns="36576" anchor="t">
            <a:spAutoFit/>
          </a:bodyPr>
          <a:lstStyle/>
          <a:p>
            <a:pPr algn="r"/>
            <a:r>
              <a:rPr sz="1000" b="0">
                <a:solidFill>
                  <a:srgbClr val="8A94A3"/>
                </a:solidFill>
                <a:latin typeface="Calibri"/>
              </a:rPr>
              <a:t>2 /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lIns="36576" rIns="36576" anchor="t">
            <a:spAutoFit/>
          </a:bodyPr>
          <a:lstStyle/>
          <a:p>
            <a:pPr algn="l"/>
            <a:r>
              <a:rPr sz="3000" b="1">
                <a:solidFill>
                  <a:srgbClr val="1F2937"/>
                </a:solidFill>
                <a:latin typeface="Calibri"/>
              </a:rPr>
              <a:t>Request flow</a:t>
            </a:r>
          </a:p>
        </p:txBody>
      </p:sp>
      <p:sp>
        <p:nvSpPr>
          <p:cNvPr id="3" name="TextBox 2"/>
          <p:cNvSpPr txBox="1"/>
          <p:nvPr/>
        </p:nvSpPr>
        <p:spPr>
          <a:xfrm>
            <a:off x="548640" y="914400"/>
            <a:ext cx="11064240" cy="411480"/>
          </a:xfrm>
          <a:prstGeom prst="rect">
            <a:avLst/>
          </a:prstGeom>
          <a:noFill/>
        </p:spPr>
        <p:txBody>
          <a:bodyPr wrap="square" lIns="36576" rIns="36576" anchor="t">
            <a:spAutoFit/>
          </a:bodyPr>
          <a:lstStyle/>
          <a:p>
            <a:pPr algn="l"/>
            <a:r>
              <a:rPr sz="1500" b="0">
                <a:solidFill>
                  <a:srgbClr val="5B6778"/>
                </a:solidFill>
                <a:latin typeface="Calibri"/>
              </a:rPr>
              <a:t>What happens when you click “Generate Text”</a:t>
            </a:r>
          </a:p>
        </p:txBody>
      </p:sp>
      <p:sp>
        <p:nvSpPr>
          <p:cNvPr id="4" name="Rectangle 3"/>
          <p:cNvSpPr/>
          <p:nvPr/>
        </p:nvSpPr>
        <p:spPr>
          <a:xfrm>
            <a:off x="548640" y="1371600"/>
            <a:ext cx="10972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20040" y="1645920"/>
            <a:ext cx="1828800" cy="502920"/>
          </a:xfrm>
          <a:prstGeom prst="roundRect">
            <a:avLst>
              <a:gd name="adj" fmla="val 12000"/>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563EB"/>
                </a:solidFill>
                <a:latin typeface="Calibri"/>
              </a:rPr>
              <a:t>User</a:t>
            </a:r>
          </a:p>
        </p:txBody>
      </p:sp>
      <p:cxnSp>
        <p:nvCxnSpPr>
          <p:cNvPr id="6" name="Connector 5"/>
          <p:cNvCxnSpPr/>
          <p:nvPr/>
        </p:nvCxnSpPr>
        <p:spPr>
          <a:xfrm>
            <a:off x="1234440" y="2148840"/>
            <a:ext cx="0" cy="4160520"/>
          </a:xfrm>
          <a:prstGeom prst="line">
            <a:avLst/>
          </a:prstGeom>
          <a:ln w="15875">
            <a:solidFill>
              <a:srgbClr val="D1D5DB"/>
            </a:solidFill>
            <a:prstDash val="lgDash"/>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606040" y="1645920"/>
            <a:ext cx="1828800" cy="502920"/>
          </a:xfrm>
          <a:prstGeom prst="roundRect">
            <a:avLst>
              <a:gd name="adj" fmla="val 12000"/>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2563EB"/>
                </a:solidFill>
                <a:latin typeface="Calibri"/>
              </a:rPr>
              <a:t>Streamlit app</a:t>
            </a:r>
          </a:p>
        </p:txBody>
      </p:sp>
      <p:cxnSp>
        <p:nvCxnSpPr>
          <p:cNvPr id="8" name="Connector 7"/>
          <p:cNvCxnSpPr/>
          <p:nvPr/>
        </p:nvCxnSpPr>
        <p:spPr>
          <a:xfrm>
            <a:off x="3520440" y="2148840"/>
            <a:ext cx="0" cy="4160520"/>
          </a:xfrm>
          <a:prstGeom prst="line">
            <a:avLst/>
          </a:prstGeom>
          <a:ln w="15875">
            <a:solidFill>
              <a:srgbClr val="D1D5DB"/>
            </a:solidFill>
            <a:prstDash val="lg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892040" y="1645920"/>
            <a:ext cx="1828800" cy="502920"/>
          </a:xfrm>
          <a:prstGeom prst="roundRect">
            <a:avLst>
              <a:gd name="adj" fmla="val 12000"/>
            </a:avLst>
          </a:prstGeom>
          <a:solidFill>
            <a:srgbClr val="F1EA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7C3AED"/>
                </a:solidFill>
                <a:latin typeface="Calibri"/>
              </a:rPr>
              <a:t>LangChain</a:t>
            </a:r>
          </a:p>
        </p:txBody>
      </p:sp>
      <p:cxnSp>
        <p:nvCxnSpPr>
          <p:cNvPr id="10" name="Connector 9"/>
          <p:cNvCxnSpPr/>
          <p:nvPr/>
        </p:nvCxnSpPr>
        <p:spPr>
          <a:xfrm>
            <a:off x="5806440" y="2148840"/>
            <a:ext cx="0" cy="4160520"/>
          </a:xfrm>
          <a:prstGeom prst="line">
            <a:avLst/>
          </a:prstGeom>
          <a:ln w="15875">
            <a:solidFill>
              <a:srgbClr val="D1D5DB"/>
            </a:solidFill>
            <a:prstDash val="lg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178040" y="1645920"/>
            <a:ext cx="1828800" cy="502920"/>
          </a:xfrm>
          <a:prstGeom prst="roundRect">
            <a:avLst>
              <a:gd name="adj" fmla="val 12000"/>
            </a:avLst>
          </a:prstGeom>
          <a:solidFill>
            <a:srgbClr val="E8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5803D"/>
                </a:solidFill>
                <a:latin typeface="Calibri"/>
              </a:rPr>
              <a:t>Ollama (local)</a:t>
            </a:r>
          </a:p>
        </p:txBody>
      </p:sp>
      <p:cxnSp>
        <p:nvCxnSpPr>
          <p:cNvPr id="12" name="Connector 11"/>
          <p:cNvCxnSpPr/>
          <p:nvPr/>
        </p:nvCxnSpPr>
        <p:spPr>
          <a:xfrm>
            <a:off x="8092440" y="2148840"/>
            <a:ext cx="0" cy="4160520"/>
          </a:xfrm>
          <a:prstGeom prst="line">
            <a:avLst/>
          </a:prstGeom>
          <a:ln w="15875">
            <a:solidFill>
              <a:srgbClr val="D1D5DB"/>
            </a:solidFill>
            <a:prstDash val="lg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464040" y="1645920"/>
            <a:ext cx="1828800" cy="502920"/>
          </a:xfrm>
          <a:prstGeom prst="roundRect">
            <a:avLst>
              <a:gd name="adj" fmla="val 12000"/>
            </a:avLst>
          </a:prstGeom>
          <a:solidFill>
            <a:srgbClr val="E6F6F4"/>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F766E"/>
                </a:solidFill>
                <a:latin typeface="Calibri"/>
              </a:rPr>
              <a:t>Hugging Face</a:t>
            </a:r>
          </a:p>
        </p:txBody>
      </p:sp>
      <p:cxnSp>
        <p:nvCxnSpPr>
          <p:cNvPr id="14" name="Connector 13"/>
          <p:cNvCxnSpPr/>
          <p:nvPr/>
        </p:nvCxnSpPr>
        <p:spPr>
          <a:xfrm>
            <a:off x="10378440" y="2148840"/>
            <a:ext cx="0" cy="4160520"/>
          </a:xfrm>
          <a:prstGeom prst="line">
            <a:avLst/>
          </a:prstGeom>
          <a:ln w="15875">
            <a:solidFill>
              <a:srgbClr val="D1D5DB"/>
            </a:solidFill>
            <a:prstDash val="lg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34440" y="2450592"/>
            <a:ext cx="228600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25880" y="2148840"/>
            <a:ext cx="2194560" cy="274320"/>
          </a:xfrm>
          <a:prstGeom prst="rect">
            <a:avLst/>
          </a:prstGeom>
          <a:noFill/>
        </p:spPr>
        <p:txBody>
          <a:bodyPr wrap="square" lIns="36576" rIns="36576" anchor="t">
            <a:spAutoFit/>
          </a:bodyPr>
          <a:lstStyle/>
          <a:p>
            <a:pPr algn="l"/>
            <a:r>
              <a:rPr sz="1100" b="0">
                <a:solidFill>
                  <a:srgbClr val="1F2937"/>
                </a:solidFill>
                <a:latin typeface="Calibri"/>
              </a:rPr>
              <a:t>1  click Generate Text</a:t>
            </a:r>
          </a:p>
        </p:txBody>
      </p:sp>
      <p:sp>
        <p:nvSpPr>
          <p:cNvPr id="17" name="Oval 16"/>
          <p:cNvSpPr/>
          <p:nvPr/>
        </p:nvSpPr>
        <p:spPr>
          <a:xfrm>
            <a:off x="3438144" y="2720340"/>
            <a:ext cx="164592" cy="164592"/>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0" y="2647188"/>
            <a:ext cx="2926080" cy="292608"/>
          </a:xfrm>
          <a:prstGeom prst="rect">
            <a:avLst/>
          </a:prstGeom>
          <a:noFill/>
        </p:spPr>
        <p:txBody>
          <a:bodyPr wrap="square" lIns="36576" rIns="36576" anchor="t">
            <a:spAutoFit/>
          </a:bodyPr>
          <a:lstStyle/>
          <a:p>
            <a:pPr algn="l"/>
            <a:r>
              <a:rPr sz="1100" b="0">
                <a:solidFill>
                  <a:srgbClr val="1F2937"/>
                </a:solidFill>
                <a:latin typeface="Calibri"/>
              </a:rPr>
              <a:t>2  check model &amp; prompt (+ token if hosted)</a:t>
            </a:r>
          </a:p>
        </p:txBody>
      </p:sp>
      <p:cxnSp>
        <p:nvCxnSpPr>
          <p:cNvPr id="19" name="Connector 18"/>
          <p:cNvCxnSpPr/>
          <p:nvPr/>
        </p:nvCxnSpPr>
        <p:spPr>
          <a:xfrm>
            <a:off x="3520440" y="3154680"/>
            <a:ext cx="2286000" cy="0"/>
          </a:xfrm>
          <a:prstGeom prst="line">
            <a:avLst/>
          </a:prstGeom>
          <a:ln w="2222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11880" y="2852928"/>
            <a:ext cx="2194559" cy="274320"/>
          </a:xfrm>
          <a:prstGeom prst="rect">
            <a:avLst/>
          </a:prstGeom>
          <a:noFill/>
        </p:spPr>
        <p:txBody>
          <a:bodyPr wrap="square" lIns="36576" rIns="36576" anchor="t">
            <a:spAutoFit/>
          </a:bodyPr>
          <a:lstStyle/>
          <a:p>
            <a:pPr algn="l"/>
            <a:r>
              <a:rPr sz="1100" b="0">
                <a:solidFill>
                  <a:srgbClr val="1F2937"/>
                </a:solidFill>
                <a:latin typeface="Calibri"/>
              </a:rPr>
              <a:t>3  build chain for the chosen source</a:t>
            </a:r>
          </a:p>
        </p:txBody>
      </p:sp>
      <p:sp>
        <p:nvSpPr>
          <p:cNvPr id="21" name="Oval 20"/>
          <p:cNvSpPr/>
          <p:nvPr/>
        </p:nvSpPr>
        <p:spPr>
          <a:xfrm>
            <a:off x="5724144" y="3424428"/>
            <a:ext cx="164592" cy="164592"/>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3351276"/>
            <a:ext cx="2926080" cy="292608"/>
          </a:xfrm>
          <a:prstGeom prst="rect">
            <a:avLst/>
          </a:prstGeom>
          <a:noFill/>
        </p:spPr>
        <p:txBody>
          <a:bodyPr wrap="square" lIns="36576" rIns="36576" anchor="t">
            <a:spAutoFit/>
          </a:bodyPr>
          <a:lstStyle/>
          <a:p>
            <a:pPr algn="l"/>
            <a:r>
              <a:rPr sz="1100" b="0">
                <a:solidFill>
                  <a:srgbClr val="1F2937"/>
                </a:solidFill>
                <a:latin typeface="Calibri"/>
              </a:rPr>
              <a:t>4  fill chat template</a:t>
            </a:r>
          </a:p>
        </p:txBody>
      </p:sp>
      <p:cxnSp>
        <p:nvCxnSpPr>
          <p:cNvPr id="23" name="Connector 22"/>
          <p:cNvCxnSpPr/>
          <p:nvPr/>
        </p:nvCxnSpPr>
        <p:spPr>
          <a:xfrm>
            <a:off x="5806440" y="3858768"/>
            <a:ext cx="2286000" cy="0"/>
          </a:xfrm>
          <a:prstGeom prst="line">
            <a:avLst/>
          </a:prstGeom>
          <a:ln w="22225">
            <a:solidFill>
              <a:srgbClr val="1580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897879" y="3557015"/>
            <a:ext cx="2194560" cy="274320"/>
          </a:xfrm>
          <a:prstGeom prst="rect">
            <a:avLst/>
          </a:prstGeom>
          <a:noFill/>
        </p:spPr>
        <p:txBody>
          <a:bodyPr wrap="square" lIns="36576" rIns="36576" anchor="t">
            <a:spAutoFit/>
          </a:bodyPr>
          <a:lstStyle/>
          <a:p>
            <a:pPr algn="l"/>
            <a:r>
              <a:rPr sz="1100" b="0">
                <a:solidFill>
                  <a:srgbClr val="1F2937"/>
                </a:solidFill>
                <a:latin typeface="Calibri"/>
              </a:rPr>
              <a:t>5a  Local: POST localhost:11434/api/chat</a:t>
            </a:r>
          </a:p>
        </p:txBody>
      </p:sp>
      <p:cxnSp>
        <p:nvCxnSpPr>
          <p:cNvPr id="25" name="Connector 24"/>
          <p:cNvCxnSpPr/>
          <p:nvPr/>
        </p:nvCxnSpPr>
        <p:spPr>
          <a:xfrm flipH="1">
            <a:off x="5806440" y="4210812"/>
            <a:ext cx="2286000" cy="0"/>
          </a:xfrm>
          <a:prstGeom prst="line">
            <a:avLst/>
          </a:prstGeom>
          <a:ln w="22225">
            <a:solidFill>
              <a:srgbClr val="1580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897879" y="3909059"/>
            <a:ext cx="2194560" cy="274320"/>
          </a:xfrm>
          <a:prstGeom prst="rect">
            <a:avLst/>
          </a:prstGeom>
          <a:noFill/>
        </p:spPr>
        <p:txBody>
          <a:bodyPr wrap="square" lIns="36576" rIns="36576" anchor="t">
            <a:spAutoFit/>
          </a:bodyPr>
          <a:lstStyle/>
          <a:p>
            <a:pPr algn="l"/>
            <a:r>
              <a:rPr sz="1100" b="0">
                <a:solidFill>
                  <a:srgbClr val="1F2937"/>
                </a:solidFill>
                <a:latin typeface="Calibri"/>
              </a:rPr>
              <a:t>6a  answer streamed back</a:t>
            </a:r>
          </a:p>
        </p:txBody>
      </p:sp>
      <p:cxnSp>
        <p:nvCxnSpPr>
          <p:cNvPr id="27" name="Connector 26"/>
          <p:cNvCxnSpPr/>
          <p:nvPr/>
        </p:nvCxnSpPr>
        <p:spPr>
          <a:xfrm>
            <a:off x="5806440" y="4562855"/>
            <a:ext cx="4572000"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97879" y="4261103"/>
            <a:ext cx="4480560" cy="274320"/>
          </a:xfrm>
          <a:prstGeom prst="rect">
            <a:avLst/>
          </a:prstGeom>
          <a:noFill/>
        </p:spPr>
        <p:txBody>
          <a:bodyPr wrap="square" lIns="36576" rIns="36576" anchor="t">
            <a:spAutoFit/>
          </a:bodyPr>
          <a:lstStyle/>
          <a:p>
            <a:pPr algn="l"/>
            <a:r>
              <a:rPr sz="1100" b="0">
                <a:solidFill>
                  <a:srgbClr val="1F2937"/>
                </a:solidFill>
                <a:latin typeface="Calibri"/>
              </a:rPr>
              <a:t>5b  Hosted: POST router chat/completions</a:t>
            </a:r>
          </a:p>
        </p:txBody>
      </p:sp>
      <p:sp>
        <p:nvSpPr>
          <p:cNvPr id="29" name="Oval 28"/>
          <p:cNvSpPr/>
          <p:nvPr/>
        </p:nvSpPr>
        <p:spPr>
          <a:xfrm>
            <a:off x="10296144" y="4832603"/>
            <a:ext cx="164592" cy="164592"/>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4759451"/>
            <a:ext cx="2606040" cy="292608"/>
          </a:xfrm>
          <a:prstGeom prst="rect">
            <a:avLst/>
          </a:prstGeom>
          <a:noFill/>
        </p:spPr>
        <p:txBody>
          <a:bodyPr wrap="square" lIns="36576" rIns="36576" anchor="t">
            <a:spAutoFit/>
          </a:bodyPr>
          <a:lstStyle/>
          <a:p>
            <a:pPr algn="r"/>
            <a:r>
              <a:rPr sz="1100" b="0">
                <a:solidFill>
                  <a:srgbClr val="1F2937"/>
                </a:solidFill>
                <a:latin typeface="Calibri"/>
              </a:rPr>
              <a:t>router checks token · licence · credits</a:t>
            </a:r>
          </a:p>
        </p:txBody>
      </p:sp>
      <p:cxnSp>
        <p:nvCxnSpPr>
          <p:cNvPr id="31" name="Connector 30"/>
          <p:cNvCxnSpPr/>
          <p:nvPr/>
        </p:nvCxnSpPr>
        <p:spPr>
          <a:xfrm flipH="1">
            <a:off x="5806440" y="5266943"/>
            <a:ext cx="4572000" cy="0"/>
          </a:xfrm>
          <a:prstGeom prst="line">
            <a:avLst/>
          </a:prstGeom>
          <a:ln w="22225">
            <a:solidFill>
              <a:srgbClr val="0F766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97879" y="4965191"/>
            <a:ext cx="4480560" cy="274320"/>
          </a:xfrm>
          <a:prstGeom prst="rect">
            <a:avLst/>
          </a:prstGeom>
          <a:noFill/>
        </p:spPr>
        <p:txBody>
          <a:bodyPr wrap="square" lIns="36576" rIns="36576" anchor="t">
            <a:spAutoFit/>
          </a:bodyPr>
          <a:lstStyle/>
          <a:p>
            <a:pPr algn="l"/>
            <a:r>
              <a:rPr sz="1100" b="0">
                <a:solidFill>
                  <a:srgbClr val="1F2937"/>
                </a:solidFill>
                <a:latin typeface="Calibri"/>
              </a:rPr>
              <a:t>6b  answer streamed back from a provider</a:t>
            </a:r>
          </a:p>
        </p:txBody>
      </p:sp>
      <p:cxnSp>
        <p:nvCxnSpPr>
          <p:cNvPr id="33" name="Connector 32"/>
          <p:cNvCxnSpPr/>
          <p:nvPr/>
        </p:nvCxnSpPr>
        <p:spPr>
          <a:xfrm flipH="1">
            <a:off x="3520440" y="5618987"/>
            <a:ext cx="2286000" cy="0"/>
          </a:xfrm>
          <a:prstGeom prst="line">
            <a:avLst/>
          </a:prstGeom>
          <a:ln w="22225">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3611880" y="5317235"/>
            <a:ext cx="2194559" cy="274320"/>
          </a:xfrm>
          <a:prstGeom prst="rect">
            <a:avLst/>
          </a:prstGeom>
          <a:noFill/>
        </p:spPr>
        <p:txBody>
          <a:bodyPr wrap="square" lIns="36576" rIns="36576" anchor="t">
            <a:spAutoFit/>
          </a:bodyPr>
          <a:lstStyle/>
          <a:p>
            <a:pPr algn="l"/>
            <a:r>
              <a:rPr sz="1100" b="0">
                <a:solidFill>
                  <a:srgbClr val="1F2937"/>
                </a:solidFill>
                <a:latin typeface="Calibri"/>
              </a:rPr>
              <a:t>7  text chunks</a:t>
            </a:r>
          </a:p>
        </p:txBody>
      </p:sp>
      <p:cxnSp>
        <p:nvCxnSpPr>
          <p:cNvPr id="35" name="Connector 34"/>
          <p:cNvCxnSpPr/>
          <p:nvPr/>
        </p:nvCxnSpPr>
        <p:spPr>
          <a:xfrm flipH="1">
            <a:off x="1234440" y="5971031"/>
            <a:ext cx="2286000" cy="0"/>
          </a:xfrm>
          <a:prstGeom prst="line">
            <a:avLst/>
          </a:prstGeom>
          <a:ln w="22225">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325880" y="5669279"/>
            <a:ext cx="2194560" cy="274320"/>
          </a:xfrm>
          <a:prstGeom prst="rect">
            <a:avLst/>
          </a:prstGeom>
          <a:noFill/>
        </p:spPr>
        <p:txBody>
          <a:bodyPr wrap="square" lIns="36576" rIns="36576" anchor="t">
            <a:spAutoFit/>
          </a:bodyPr>
          <a:lstStyle/>
          <a:p>
            <a:pPr algn="l"/>
            <a:r>
              <a:rPr sz="1100" b="0">
                <a:solidFill>
                  <a:srgbClr val="1F2937"/>
                </a:solidFill>
                <a:latin typeface="Calibri"/>
              </a:rPr>
              <a:t>8  st.write_stream shows the text live</a:t>
            </a:r>
          </a:p>
        </p:txBody>
      </p:sp>
      <p:cxnSp>
        <p:nvCxnSpPr>
          <p:cNvPr id="37" name="Connector 36"/>
          <p:cNvCxnSpPr/>
          <p:nvPr/>
        </p:nvCxnSpPr>
        <p:spPr>
          <a:xfrm>
            <a:off x="5577840" y="3703320"/>
            <a:ext cx="0" cy="1691640"/>
          </a:xfrm>
          <a:prstGeom prst="line">
            <a:avLst/>
          </a:prstGeom>
          <a:ln w="19050">
            <a:solidFill>
              <a:srgbClr val="8A94A3"/>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657600" y="4297680"/>
            <a:ext cx="1828800" cy="548640"/>
          </a:xfrm>
          <a:prstGeom prst="rect">
            <a:avLst/>
          </a:prstGeom>
          <a:noFill/>
        </p:spPr>
        <p:txBody>
          <a:bodyPr wrap="square" lIns="36576" rIns="36576" anchor="t">
            <a:spAutoFit/>
          </a:bodyPr>
          <a:lstStyle/>
          <a:p>
            <a:pPr algn="r"/>
            <a:r>
              <a:rPr sz="1000" b="0">
                <a:solidFill>
                  <a:srgbClr val="5B6778"/>
                </a:solidFill>
                <a:latin typeface="Calibri"/>
              </a:rPr>
              <a:t>only one branch runs:</a:t>
            </a:r>
          </a:p>
          <a:p>
            <a:pPr algn="r"/>
            <a:r>
              <a:rPr sz="1000" b="0">
                <a:solidFill>
                  <a:srgbClr val="5B6778"/>
                </a:solidFill>
                <a:latin typeface="Calibri"/>
              </a:rPr>
              <a:t>a) local or b) hosted</a:t>
            </a:r>
          </a:p>
        </p:txBody>
      </p:sp>
      <p:sp>
        <p:nvSpPr>
          <p:cNvPr id="39" name="TextBox 38"/>
          <p:cNvSpPr txBox="1"/>
          <p:nvPr/>
        </p:nvSpPr>
        <p:spPr>
          <a:xfrm>
            <a:off x="548640" y="6446520"/>
            <a:ext cx="8229600" cy="274320"/>
          </a:xfrm>
          <a:prstGeom prst="rect">
            <a:avLst/>
          </a:prstGeom>
          <a:noFill/>
        </p:spPr>
        <p:txBody>
          <a:bodyPr wrap="square" lIns="36576" rIns="36576" anchor="t">
            <a:spAutoFit/>
          </a:bodyPr>
          <a:lstStyle/>
          <a:p>
            <a:pPr algn="l"/>
            <a:r>
              <a:rPr sz="1000" b="0">
                <a:solidFill>
                  <a:srgbClr val="8A94A3"/>
                </a:solidFill>
                <a:latin typeface="Calibri"/>
              </a:rPr>
              <a:t>Text Generation Playground  ·  09-ai-competencies/inference-model-apis/text-generation-app</a:t>
            </a:r>
          </a:p>
        </p:txBody>
      </p:sp>
      <p:sp>
        <p:nvSpPr>
          <p:cNvPr id="40" name="TextBox 39"/>
          <p:cNvSpPr txBox="1"/>
          <p:nvPr/>
        </p:nvSpPr>
        <p:spPr>
          <a:xfrm>
            <a:off x="10881360" y="6446520"/>
            <a:ext cx="822960" cy="274320"/>
          </a:xfrm>
          <a:prstGeom prst="rect">
            <a:avLst/>
          </a:prstGeom>
          <a:noFill/>
        </p:spPr>
        <p:txBody>
          <a:bodyPr wrap="square" lIns="36576" rIns="36576" anchor="t">
            <a:spAutoFit/>
          </a:bodyPr>
          <a:lstStyle/>
          <a:p>
            <a:pPr algn="r"/>
            <a:r>
              <a:rPr sz="1000" b="0">
                <a:solidFill>
                  <a:srgbClr val="8A94A3"/>
                </a:solidFill>
                <a:latin typeface="Calibri"/>
              </a:rPr>
              <a:t>3 /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lIns="36576" rIns="36576" anchor="t">
            <a:spAutoFit/>
          </a:bodyPr>
          <a:lstStyle/>
          <a:p>
            <a:pPr algn="l"/>
            <a:r>
              <a:rPr sz="3000" b="1">
                <a:solidFill>
                  <a:srgbClr val="1F2937"/>
                </a:solidFill>
                <a:latin typeface="Calibri"/>
              </a:rPr>
              <a:t>Two model sources compared</a:t>
            </a:r>
          </a:p>
        </p:txBody>
      </p:sp>
      <p:sp>
        <p:nvSpPr>
          <p:cNvPr id="3" name="TextBox 2"/>
          <p:cNvSpPr txBox="1"/>
          <p:nvPr/>
        </p:nvSpPr>
        <p:spPr>
          <a:xfrm>
            <a:off x="548640" y="914400"/>
            <a:ext cx="11064240" cy="411480"/>
          </a:xfrm>
          <a:prstGeom prst="rect">
            <a:avLst/>
          </a:prstGeom>
          <a:noFill/>
        </p:spPr>
        <p:txBody>
          <a:bodyPr wrap="square" lIns="36576" rIns="36576" anchor="t">
            <a:spAutoFit/>
          </a:bodyPr>
          <a:lstStyle/>
          <a:p>
            <a:pPr algn="l"/>
            <a:r>
              <a:rPr sz="1500" b="0">
                <a:solidFill>
                  <a:srgbClr val="5B6778"/>
                </a:solidFill>
                <a:latin typeface="Calibri"/>
              </a:rPr>
              <a:t>The same UI, prompt and chain; only the model block changes</a:t>
            </a:r>
          </a:p>
        </p:txBody>
      </p:sp>
      <p:sp>
        <p:nvSpPr>
          <p:cNvPr id="4" name="Rectangle 3"/>
          <p:cNvSpPr/>
          <p:nvPr/>
        </p:nvSpPr>
        <p:spPr>
          <a:xfrm>
            <a:off x="548640" y="1371600"/>
            <a:ext cx="10972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291840" y="1691640"/>
            <a:ext cx="4069080" cy="402336"/>
          </a:xfrm>
          <a:prstGeom prst="roundRect">
            <a:avLst>
              <a:gd name="adj" fmla="val 8000"/>
            </a:avLst>
          </a:prstGeom>
          <a:solidFill>
            <a:srgbClr val="15803D"/>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Local (Ollama)  ·  default</a:t>
            </a:r>
          </a:p>
        </p:txBody>
      </p:sp>
      <p:sp>
        <p:nvSpPr>
          <p:cNvPr id="6" name="Rounded Rectangle 5"/>
          <p:cNvSpPr/>
          <p:nvPr/>
        </p:nvSpPr>
        <p:spPr>
          <a:xfrm>
            <a:off x="7452360" y="1691640"/>
            <a:ext cx="4206240" cy="402336"/>
          </a:xfrm>
          <a:prstGeom prst="roundRect">
            <a:avLst>
              <a:gd name="adj" fmla="val 8000"/>
            </a:avLst>
          </a:prstGeom>
          <a:solidFill>
            <a:srgbClr val="0F766E"/>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Hugging Face (hosted)</a:t>
            </a:r>
          </a:p>
        </p:txBody>
      </p:sp>
      <p:sp>
        <p:nvSpPr>
          <p:cNvPr id="7" name="Rounded Rectangle 6"/>
          <p:cNvSpPr/>
          <p:nvPr/>
        </p:nvSpPr>
        <p:spPr>
          <a:xfrm>
            <a:off x="548640" y="21488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Where the model runs</a:t>
            </a:r>
          </a:p>
        </p:txBody>
      </p:sp>
      <p:sp>
        <p:nvSpPr>
          <p:cNvPr id="8" name="Rounded Rectangle 7"/>
          <p:cNvSpPr/>
          <p:nvPr/>
        </p:nvSpPr>
        <p:spPr>
          <a:xfrm>
            <a:off x="3291840" y="21488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On this computer</a:t>
            </a:r>
          </a:p>
        </p:txBody>
      </p:sp>
      <p:sp>
        <p:nvSpPr>
          <p:cNvPr id="9" name="Rounded Rectangle 8"/>
          <p:cNvSpPr/>
          <p:nvPr/>
        </p:nvSpPr>
        <p:spPr>
          <a:xfrm>
            <a:off x="7452360" y="21488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On a provider's GPUs (groq, nscale, deepinfra, …)</a:t>
            </a:r>
          </a:p>
        </p:txBody>
      </p:sp>
      <p:sp>
        <p:nvSpPr>
          <p:cNvPr id="10" name="Rounded Rectangle 9"/>
          <p:cNvSpPr/>
          <p:nvPr/>
        </p:nvSpPr>
        <p:spPr>
          <a:xfrm>
            <a:off x="548640" y="26060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Cost</a:t>
            </a:r>
          </a:p>
        </p:txBody>
      </p:sp>
      <p:sp>
        <p:nvSpPr>
          <p:cNvPr id="11" name="Rounded Rectangle 10"/>
          <p:cNvSpPr/>
          <p:nvPr/>
        </p:nvSpPr>
        <p:spPr>
          <a:xfrm>
            <a:off x="3291840" y="26060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Free</a:t>
            </a:r>
          </a:p>
        </p:txBody>
      </p:sp>
      <p:sp>
        <p:nvSpPr>
          <p:cNvPr id="12" name="Rounded Rectangle 11"/>
          <p:cNvSpPr/>
          <p:nvPr/>
        </p:nvSpPr>
        <p:spPr>
          <a:xfrm>
            <a:off x="7452360" y="26060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Paid per use; small free monthly credits</a:t>
            </a:r>
          </a:p>
        </p:txBody>
      </p:sp>
      <p:sp>
        <p:nvSpPr>
          <p:cNvPr id="13" name="Rounded Rectangle 12"/>
          <p:cNvSpPr/>
          <p:nvPr/>
        </p:nvSpPr>
        <p:spPr>
          <a:xfrm>
            <a:off x="548640" y="30632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API token</a:t>
            </a:r>
          </a:p>
        </p:txBody>
      </p:sp>
      <p:sp>
        <p:nvSpPr>
          <p:cNvPr id="14" name="Rounded Rectangle 13"/>
          <p:cNvSpPr/>
          <p:nvPr/>
        </p:nvSpPr>
        <p:spPr>
          <a:xfrm>
            <a:off x="3291840" y="30632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Not needed</a:t>
            </a:r>
          </a:p>
        </p:txBody>
      </p:sp>
      <p:sp>
        <p:nvSpPr>
          <p:cNvPr id="15" name="Rounded Rectangle 14"/>
          <p:cNvSpPr/>
          <p:nvPr/>
        </p:nvSpPr>
        <p:spPr>
          <a:xfrm>
            <a:off x="7452360" y="30632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Needed: sidebar, secrets.toml or HF_TOKEN</a:t>
            </a:r>
          </a:p>
        </p:txBody>
      </p:sp>
      <p:sp>
        <p:nvSpPr>
          <p:cNvPr id="16" name="Rounded Rectangle 15"/>
          <p:cNvSpPr/>
          <p:nvPr/>
        </p:nvSpPr>
        <p:spPr>
          <a:xfrm>
            <a:off x="548640" y="35204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Internet</a:t>
            </a:r>
          </a:p>
        </p:txBody>
      </p:sp>
      <p:sp>
        <p:nvSpPr>
          <p:cNvPr id="17" name="Rounded Rectangle 16"/>
          <p:cNvSpPr/>
          <p:nvPr/>
        </p:nvSpPr>
        <p:spPr>
          <a:xfrm>
            <a:off x="3291840" y="35204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Not needed once the model is downloaded</a:t>
            </a:r>
          </a:p>
        </p:txBody>
      </p:sp>
      <p:sp>
        <p:nvSpPr>
          <p:cNvPr id="18" name="Rounded Rectangle 17"/>
          <p:cNvSpPr/>
          <p:nvPr/>
        </p:nvSpPr>
        <p:spPr>
          <a:xfrm>
            <a:off x="7452360" y="35204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Needed</a:t>
            </a:r>
          </a:p>
        </p:txBody>
      </p:sp>
      <p:sp>
        <p:nvSpPr>
          <p:cNvPr id="19" name="Rounded Rectangle 18"/>
          <p:cNvSpPr/>
          <p:nvPr/>
        </p:nvSpPr>
        <p:spPr>
          <a:xfrm>
            <a:off x="548640" y="3977639"/>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Privacy</a:t>
            </a:r>
          </a:p>
        </p:txBody>
      </p:sp>
      <p:sp>
        <p:nvSpPr>
          <p:cNvPr id="20" name="Rounded Rectangle 19"/>
          <p:cNvSpPr/>
          <p:nvPr/>
        </p:nvSpPr>
        <p:spPr>
          <a:xfrm>
            <a:off x="3291840" y="3977639"/>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Prompts never leave the computer</a:t>
            </a:r>
          </a:p>
        </p:txBody>
      </p:sp>
      <p:sp>
        <p:nvSpPr>
          <p:cNvPr id="21" name="Rounded Rectangle 20"/>
          <p:cNvSpPr/>
          <p:nvPr/>
        </p:nvSpPr>
        <p:spPr>
          <a:xfrm>
            <a:off x="7452360" y="3977639"/>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Prompts are sent to Hugging Face and a provider</a:t>
            </a:r>
          </a:p>
        </p:txBody>
      </p:sp>
      <p:sp>
        <p:nvSpPr>
          <p:cNvPr id="22" name="Rounded Rectangle 21"/>
          <p:cNvSpPr/>
          <p:nvPr/>
        </p:nvSpPr>
        <p:spPr>
          <a:xfrm>
            <a:off x="548640" y="44348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Models</a:t>
            </a:r>
          </a:p>
        </p:txBody>
      </p:sp>
      <p:sp>
        <p:nvSpPr>
          <p:cNvPr id="23" name="Rounded Rectangle 22"/>
          <p:cNvSpPr/>
          <p:nvPr/>
        </p:nvSpPr>
        <p:spPr>
          <a:xfrm>
            <a:off x="3291840" y="44348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Whatever you have downloaded (ollama pull …)</a:t>
            </a:r>
          </a:p>
        </p:txBody>
      </p:sp>
      <p:sp>
        <p:nvSpPr>
          <p:cNvPr id="24" name="Rounded Rectangle 23"/>
          <p:cNvSpPr/>
          <p:nvPr/>
        </p:nvSpPr>
        <p:spPr>
          <a:xfrm>
            <a:off x="7452360" y="44348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Qwen3 8B, gpt-oss 20B, Llama 3.1 8B, Gemma 3 27B</a:t>
            </a:r>
          </a:p>
        </p:txBody>
      </p:sp>
      <p:sp>
        <p:nvSpPr>
          <p:cNvPr id="25" name="Rounded Rectangle 24"/>
          <p:cNvSpPr/>
          <p:nvPr/>
        </p:nvSpPr>
        <p:spPr>
          <a:xfrm>
            <a:off x="548640" y="48920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Size and speed</a:t>
            </a:r>
          </a:p>
        </p:txBody>
      </p:sp>
      <p:sp>
        <p:nvSpPr>
          <p:cNvPr id="26" name="Rounded Rectangle 25"/>
          <p:cNvSpPr/>
          <p:nvPr/>
        </p:nvSpPr>
        <p:spPr>
          <a:xfrm>
            <a:off x="3291840" y="48920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Limited by this computer's memory</a:t>
            </a:r>
          </a:p>
        </p:txBody>
      </p:sp>
      <p:sp>
        <p:nvSpPr>
          <p:cNvPr id="27" name="Rounded Rectangle 26"/>
          <p:cNvSpPr/>
          <p:nvPr/>
        </p:nvSpPr>
        <p:spPr>
          <a:xfrm>
            <a:off x="7452360" y="48920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Large models, fast hardware</a:t>
            </a:r>
          </a:p>
        </p:txBody>
      </p:sp>
      <p:sp>
        <p:nvSpPr>
          <p:cNvPr id="28" name="Rounded Rectangle 27"/>
          <p:cNvSpPr/>
          <p:nvPr/>
        </p:nvSpPr>
        <p:spPr>
          <a:xfrm>
            <a:off x="548640" y="53492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Setup</a:t>
            </a:r>
          </a:p>
        </p:txBody>
      </p:sp>
      <p:sp>
        <p:nvSpPr>
          <p:cNvPr id="29" name="Rounded Rectangle 28"/>
          <p:cNvSpPr/>
          <p:nvPr/>
        </p:nvSpPr>
        <p:spPr>
          <a:xfrm>
            <a:off x="3291840" y="53492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Install Ollama, download a model</a:t>
            </a:r>
          </a:p>
        </p:txBody>
      </p:sp>
      <p:sp>
        <p:nvSpPr>
          <p:cNvPr id="30" name="Rounded Rectangle 29"/>
          <p:cNvSpPr/>
          <p:nvPr/>
        </p:nvSpPr>
        <p:spPr>
          <a:xfrm>
            <a:off x="7452360" y="53492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Account, token, licence for gated models</a:t>
            </a:r>
          </a:p>
        </p:txBody>
      </p:sp>
      <p:sp>
        <p:nvSpPr>
          <p:cNvPr id="31" name="Rounded Rectangle 30"/>
          <p:cNvSpPr/>
          <p:nvPr/>
        </p:nvSpPr>
        <p:spPr>
          <a:xfrm>
            <a:off x="548640" y="5806440"/>
            <a:ext cx="2651760" cy="402336"/>
          </a:xfrm>
          <a:prstGeom prst="roundRect">
            <a:avLst>
              <a:gd name="adj" fmla="val 8000"/>
            </a:avLst>
          </a:prstGeom>
          <a:solidFill>
            <a:srgbClr val="F3F4F6"/>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1">
                <a:solidFill>
                  <a:srgbClr val="1F2937"/>
                </a:solidFill>
                <a:latin typeface="Calibri"/>
              </a:rPr>
              <a:t>LangChain class</a:t>
            </a:r>
          </a:p>
        </p:txBody>
      </p:sp>
      <p:sp>
        <p:nvSpPr>
          <p:cNvPr id="32" name="Rounded Rectangle 31"/>
          <p:cNvSpPr/>
          <p:nvPr/>
        </p:nvSpPr>
        <p:spPr>
          <a:xfrm>
            <a:off x="3291840" y="5806440"/>
            <a:ext cx="4069080" cy="402336"/>
          </a:xfrm>
          <a:prstGeom prst="roundRect">
            <a:avLst>
              <a:gd name="adj" fmla="val 8000"/>
            </a:avLst>
          </a:prstGeom>
          <a:solidFill>
            <a:srgbClr val="E8F7EE"/>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ChatOllama (langchain-ollama)</a:t>
            </a:r>
          </a:p>
        </p:txBody>
      </p:sp>
      <p:sp>
        <p:nvSpPr>
          <p:cNvPr id="33" name="Rounded Rectangle 32"/>
          <p:cNvSpPr/>
          <p:nvPr/>
        </p:nvSpPr>
        <p:spPr>
          <a:xfrm>
            <a:off x="7452360" y="5806440"/>
            <a:ext cx="4206240" cy="402336"/>
          </a:xfrm>
          <a:prstGeom prst="roundRect">
            <a:avLst>
              <a:gd name="adj" fmla="val 8000"/>
            </a:avLst>
          </a:prstGeom>
          <a:solidFill>
            <a:srgbClr val="E6F6F4"/>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50" b="0">
                <a:solidFill>
                  <a:srgbClr val="1F2937"/>
                </a:solidFill>
                <a:latin typeface="Calibri"/>
              </a:rPr>
              <a:t>ChatHuggingFace (langchain-huggingface)</a:t>
            </a:r>
          </a:p>
        </p:txBody>
      </p:sp>
      <p:sp>
        <p:nvSpPr>
          <p:cNvPr id="34" name="TextBox 33"/>
          <p:cNvSpPr txBox="1"/>
          <p:nvPr/>
        </p:nvSpPr>
        <p:spPr>
          <a:xfrm>
            <a:off x="548640" y="6446520"/>
            <a:ext cx="8229600" cy="274320"/>
          </a:xfrm>
          <a:prstGeom prst="rect">
            <a:avLst/>
          </a:prstGeom>
          <a:noFill/>
        </p:spPr>
        <p:txBody>
          <a:bodyPr wrap="square" lIns="36576" rIns="36576" anchor="t">
            <a:spAutoFit/>
          </a:bodyPr>
          <a:lstStyle/>
          <a:p>
            <a:pPr algn="l"/>
            <a:r>
              <a:rPr sz="1000" b="0">
                <a:solidFill>
                  <a:srgbClr val="8A94A3"/>
                </a:solidFill>
                <a:latin typeface="Calibri"/>
              </a:rPr>
              <a:t>Text Generation Playground  ·  09-ai-competencies/inference-model-apis/text-generation-app</a:t>
            </a:r>
          </a:p>
        </p:txBody>
      </p:sp>
      <p:sp>
        <p:nvSpPr>
          <p:cNvPr id="35" name="TextBox 34"/>
          <p:cNvSpPr txBox="1"/>
          <p:nvPr/>
        </p:nvSpPr>
        <p:spPr>
          <a:xfrm>
            <a:off x="10881360" y="6446520"/>
            <a:ext cx="822960" cy="274320"/>
          </a:xfrm>
          <a:prstGeom prst="rect">
            <a:avLst/>
          </a:prstGeom>
          <a:noFill/>
        </p:spPr>
        <p:txBody>
          <a:bodyPr wrap="square" lIns="36576" rIns="36576" anchor="t">
            <a:spAutoFit/>
          </a:bodyPr>
          <a:lstStyle/>
          <a:p>
            <a:pPr algn="r"/>
            <a:r>
              <a:rPr sz="1000" b="0">
                <a:solidFill>
                  <a:srgbClr val="8A94A3"/>
                </a:solidFill>
                <a:latin typeface="Calibri"/>
              </a:rPr>
              <a:t>4 /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lIns="36576" rIns="36576" anchor="t">
            <a:spAutoFit/>
          </a:bodyPr>
          <a:lstStyle/>
          <a:p>
            <a:pPr algn="l"/>
            <a:r>
              <a:rPr sz="3000" b="1">
                <a:solidFill>
                  <a:srgbClr val="1F2937"/>
                </a:solidFill>
                <a:latin typeface="Calibri"/>
              </a:rPr>
              <a:t>Components and responsibilities</a:t>
            </a:r>
          </a:p>
        </p:txBody>
      </p:sp>
      <p:sp>
        <p:nvSpPr>
          <p:cNvPr id="3" name="TextBox 2"/>
          <p:cNvSpPr txBox="1"/>
          <p:nvPr/>
        </p:nvSpPr>
        <p:spPr>
          <a:xfrm>
            <a:off x="548640" y="914400"/>
            <a:ext cx="11064240" cy="411480"/>
          </a:xfrm>
          <a:prstGeom prst="rect">
            <a:avLst/>
          </a:prstGeom>
          <a:noFill/>
        </p:spPr>
        <p:txBody>
          <a:bodyPr wrap="square" lIns="36576" rIns="36576" anchor="t">
            <a:spAutoFit/>
          </a:bodyPr>
          <a:lstStyle/>
          <a:p>
            <a:pPr algn="l"/>
            <a:r>
              <a:rPr sz="1500" b="0">
                <a:solidFill>
                  <a:srgbClr val="5B6778"/>
                </a:solidFill>
                <a:latin typeface="Calibri"/>
              </a:rPr>
              <a:t>Each layer has one job and depends only on the layer below</a:t>
            </a:r>
          </a:p>
        </p:txBody>
      </p:sp>
      <p:sp>
        <p:nvSpPr>
          <p:cNvPr id="4" name="Rectangle 3"/>
          <p:cNvSpPr/>
          <p:nvPr/>
        </p:nvSpPr>
        <p:spPr>
          <a:xfrm>
            <a:off x="548640" y="1371600"/>
            <a:ext cx="10972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91640"/>
            <a:ext cx="3017520" cy="777240"/>
          </a:xfrm>
          <a:prstGeom prst="roundRect">
            <a:avLst>
              <a:gd name="adj" fmla="val 12000"/>
            </a:avLst>
          </a:prstGeom>
          <a:solidFill>
            <a:srgbClr val="E8F0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563EB"/>
                </a:solidFill>
                <a:latin typeface="Calibri"/>
              </a:rPr>
              <a:t>Presentation</a:t>
            </a:r>
          </a:p>
          <a:p>
            <a:pPr algn="ctr"/>
            <a:r>
              <a:rPr sz="1000" b="0">
                <a:solidFill>
                  <a:srgbClr val="1F2937"/>
                </a:solidFill>
                <a:latin typeface="Calibri"/>
              </a:rPr>
              <a:t>Streamlit 1.66</a:t>
            </a:r>
          </a:p>
        </p:txBody>
      </p:sp>
      <p:sp>
        <p:nvSpPr>
          <p:cNvPr id="6" name="Rounded Rectangle 5"/>
          <p:cNvSpPr/>
          <p:nvPr/>
        </p:nvSpPr>
        <p:spPr>
          <a:xfrm>
            <a:off x="3703320" y="1691640"/>
            <a:ext cx="7909560" cy="777240"/>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0">
                <a:solidFill>
                  <a:srgbClr val="1F2937"/>
                </a:solidFill>
                <a:latin typeface="Calibri"/>
              </a:rPr>
              <a:t>Web page from app.py: model-source switch, sliders, prompt; streams the answer live</a:t>
            </a:r>
          </a:p>
        </p:txBody>
      </p:sp>
      <p:sp>
        <p:nvSpPr>
          <p:cNvPr id="7" name="Rounded Rectangle 6"/>
          <p:cNvSpPr/>
          <p:nvPr/>
        </p:nvSpPr>
        <p:spPr>
          <a:xfrm>
            <a:off x="548640" y="2606040"/>
            <a:ext cx="3017520" cy="777240"/>
          </a:xfrm>
          <a:prstGeom prst="roundRect">
            <a:avLst>
              <a:gd name="adj" fmla="val 12000"/>
            </a:avLst>
          </a:prstGeom>
          <a:solidFill>
            <a:srgbClr val="F1EAFE"/>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7C3AED"/>
                </a:solidFill>
                <a:latin typeface="Calibri"/>
              </a:rPr>
              <a:t>Orchestration</a:t>
            </a:r>
          </a:p>
          <a:p>
            <a:pPr algn="ctr"/>
            <a:r>
              <a:rPr sz="1000" b="0">
                <a:solidFill>
                  <a:srgbClr val="1F2937"/>
                </a:solidFill>
                <a:latin typeface="Calibri"/>
              </a:rPr>
              <a:t>langchain-core 1.7</a:t>
            </a:r>
          </a:p>
        </p:txBody>
      </p:sp>
      <p:sp>
        <p:nvSpPr>
          <p:cNvPr id="8" name="Rounded Rectangle 7"/>
          <p:cNvSpPr/>
          <p:nvPr/>
        </p:nvSpPr>
        <p:spPr>
          <a:xfrm>
            <a:off x="3703320" y="2606040"/>
            <a:ext cx="7909560" cy="777240"/>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0">
                <a:solidFill>
                  <a:srgbClr val="1F2937"/>
                </a:solidFill>
                <a:latin typeface="Calibri"/>
              </a:rPr>
              <a:t>ChatPromptTemplate | chat model | StrOutputParser: the same chain for both sources</a:t>
            </a:r>
          </a:p>
        </p:txBody>
      </p:sp>
      <p:sp>
        <p:nvSpPr>
          <p:cNvPr id="9" name="Rounded Rectangle 8"/>
          <p:cNvSpPr/>
          <p:nvPr/>
        </p:nvSpPr>
        <p:spPr>
          <a:xfrm>
            <a:off x="548640" y="3520440"/>
            <a:ext cx="3017520" cy="777240"/>
          </a:xfrm>
          <a:prstGeom prst="roundRect">
            <a:avLst>
              <a:gd name="adj" fmla="val 12000"/>
            </a:avLst>
          </a:prstGeom>
          <a:solidFill>
            <a:srgbClr val="FFFFFF"/>
          </a:solidFill>
          <a:ln w="1905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7C3AED"/>
                </a:solidFill>
                <a:latin typeface="Calibri"/>
              </a:rPr>
              <a:t>Model integration</a:t>
            </a:r>
          </a:p>
          <a:p>
            <a:pPr algn="ctr"/>
            <a:r>
              <a:rPr sz="1000" b="0">
                <a:solidFill>
                  <a:srgbClr val="1F2937"/>
                </a:solidFill>
                <a:latin typeface="Calibri"/>
              </a:rPr>
              <a:t>langchain-ollama · langchain-huggingface</a:t>
            </a:r>
          </a:p>
        </p:txBody>
      </p:sp>
      <p:sp>
        <p:nvSpPr>
          <p:cNvPr id="10" name="Rounded Rectangle 9"/>
          <p:cNvSpPr/>
          <p:nvPr/>
        </p:nvSpPr>
        <p:spPr>
          <a:xfrm>
            <a:off x="3703320" y="3520440"/>
            <a:ext cx="7909560" cy="777240"/>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0">
                <a:solidFill>
                  <a:srgbClr val="1F2937"/>
                </a:solidFill>
                <a:latin typeface="Calibri"/>
              </a:rPr>
              <a:t>ChatOllama (local) or ChatHuggingFace (hosted); max tokens and temperature for either</a:t>
            </a:r>
          </a:p>
        </p:txBody>
      </p:sp>
      <p:sp>
        <p:nvSpPr>
          <p:cNvPr id="11" name="Rounded Rectangle 10"/>
          <p:cNvSpPr/>
          <p:nvPr/>
        </p:nvSpPr>
        <p:spPr>
          <a:xfrm>
            <a:off x="548640" y="4434840"/>
            <a:ext cx="3017520" cy="777240"/>
          </a:xfrm>
          <a:prstGeom prst="roundRect">
            <a:avLst>
              <a:gd name="adj" fmla="val 12000"/>
            </a:avLst>
          </a:prstGeom>
          <a:solidFill>
            <a:srgbClr val="E8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5803D"/>
                </a:solidFill>
                <a:latin typeface="Calibri"/>
              </a:rPr>
              <a:t>Model serving</a:t>
            </a:r>
          </a:p>
          <a:p>
            <a:pPr algn="ctr"/>
            <a:r>
              <a:rPr sz="1000" b="0">
                <a:solidFill>
                  <a:srgbClr val="1F2937"/>
                </a:solidFill>
                <a:latin typeface="Calibri"/>
              </a:rPr>
              <a:t>Ollama  ·  HF Inference Providers</a:t>
            </a:r>
          </a:p>
        </p:txBody>
      </p:sp>
      <p:sp>
        <p:nvSpPr>
          <p:cNvPr id="12" name="Rounded Rectangle 11"/>
          <p:cNvSpPr/>
          <p:nvPr/>
        </p:nvSpPr>
        <p:spPr>
          <a:xfrm>
            <a:off x="3703320" y="4434840"/>
            <a:ext cx="7909560" cy="777240"/>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0">
                <a:solidFill>
                  <a:srgbClr val="1F2937"/>
                </a:solidFill>
                <a:latin typeface="Calibri"/>
              </a:rPr>
              <a:t>Local: Ollama on localhost:11434.  Hosted: the router picks a provider that runs the model</a:t>
            </a:r>
          </a:p>
        </p:txBody>
      </p:sp>
      <p:sp>
        <p:nvSpPr>
          <p:cNvPr id="13" name="Rounded Rectangle 12"/>
          <p:cNvSpPr/>
          <p:nvPr/>
        </p:nvSpPr>
        <p:spPr>
          <a:xfrm>
            <a:off x="548640" y="5349240"/>
            <a:ext cx="3017520" cy="777240"/>
          </a:xfrm>
          <a:prstGeom prst="roundRect">
            <a:avLst>
              <a:gd name="adj" fmla="val 12000"/>
            </a:avLst>
          </a:prstGeom>
          <a:solidFill>
            <a:srgbClr val="FEF3E2"/>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B45309"/>
                </a:solidFill>
                <a:latin typeface="Calibri"/>
              </a:rPr>
              <a:t>Configuration</a:t>
            </a:r>
          </a:p>
          <a:p>
            <a:pPr algn="ctr"/>
            <a:r>
              <a:rPr sz="1000" b="0">
                <a:solidFill>
                  <a:srgbClr val="1F2937"/>
                </a:solidFill>
                <a:latin typeface="Calibri"/>
              </a:rPr>
              <a:t>token · Ollama URL</a:t>
            </a:r>
          </a:p>
        </p:txBody>
      </p:sp>
      <p:sp>
        <p:nvSpPr>
          <p:cNvPr id="14" name="Rounded Rectangle 13"/>
          <p:cNvSpPr/>
          <p:nvPr/>
        </p:nvSpPr>
        <p:spPr>
          <a:xfrm>
            <a:off x="3703320" y="5349240"/>
            <a:ext cx="7909560" cy="777240"/>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0">
                <a:solidFill>
                  <a:srgbClr val="1F2937"/>
                </a:solidFill>
                <a:latin typeface="Calibri"/>
              </a:rPr>
              <a:t>Hosted: token from sidebar, secrets.toml or HF_TOKEN (never printed). Local: no token</a:t>
            </a:r>
          </a:p>
        </p:txBody>
      </p:sp>
      <p:sp>
        <p:nvSpPr>
          <p:cNvPr id="15" name="TextBox 14"/>
          <p:cNvSpPr txBox="1"/>
          <p:nvPr/>
        </p:nvSpPr>
        <p:spPr>
          <a:xfrm>
            <a:off x="548640" y="6446520"/>
            <a:ext cx="8229600" cy="274320"/>
          </a:xfrm>
          <a:prstGeom prst="rect">
            <a:avLst/>
          </a:prstGeom>
          <a:noFill/>
        </p:spPr>
        <p:txBody>
          <a:bodyPr wrap="square" lIns="36576" rIns="36576" anchor="t">
            <a:spAutoFit/>
          </a:bodyPr>
          <a:lstStyle/>
          <a:p>
            <a:pPr algn="l"/>
            <a:r>
              <a:rPr sz="1000" b="0">
                <a:solidFill>
                  <a:srgbClr val="8A94A3"/>
                </a:solidFill>
                <a:latin typeface="Calibri"/>
              </a:rPr>
              <a:t>Text Generation Playground  ·  09-ai-competencies/inference-model-apis/text-generation-app</a:t>
            </a:r>
          </a:p>
        </p:txBody>
      </p:sp>
      <p:sp>
        <p:nvSpPr>
          <p:cNvPr id="16" name="TextBox 15"/>
          <p:cNvSpPr txBox="1"/>
          <p:nvPr/>
        </p:nvSpPr>
        <p:spPr>
          <a:xfrm>
            <a:off x="10881360" y="6446520"/>
            <a:ext cx="822960" cy="274320"/>
          </a:xfrm>
          <a:prstGeom prst="rect">
            <a:avLst/>
          </a:prstGeom>
          <a:noFill/>
        </p:spPr>
        <p:txBody>
          <a:bodyPr wrap="square" lIns="36576" rIns="36576" anchor="t">
            <a:spAutoFit/>
          </a:bodyPr>
          <a:lstStyle/>
          <a:p>
            <a:pPr algn="r"/>
            <a:r>
              <a:rPr sz="1000" b="0">
                <a:solidFill>
                  <a:srgbClr val="8A94A3"/>
                </a:solidFill>
                <a:latin typeface="Calibri"/>
              </a:rPr>
              <a:t>5 /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lIns="36576" rIns="36576" anchor="t">
            <a:spAutoFit/>
          </a:bodyPr>
          <a:lstStyle/>
          <a:p>
            <a:pPr algn="l"/>
            <a:r>
              <a:rPr sz="3000" b="1">
                <a:solidFill>
                  <a:srgbClr val="1F2937"/>
                </a:solidFill>
                <a:latin typeface="Calibri"/>
              </a:rPr>
              <a:t>Configuration and error handling</a:t>
            </a:r>
          </a:p>
        </p:txBody>
      </p:sp>
      <p:sp>
        <p:nvSpPr>
          <p:cNvPr id="3" name="TextBox 2"/>
          <p:cNvSpPr txBox="1"/>
          <p:nvPr/>
        </p:nvSpPr>
        <p:spPr>
          <a:xfrm>
            <a:off x="548640" y="914400"/>
            <a:ext cx="11064240" cy="411480"/>
          </a:xfrm>
          <a:prstGeom prst="rect">
            <a:avLst/>
          </a:prstGeom>
          <a:noFill/>
        </p:spPr>
        <p:txBody>
          <a:bodyPr wrap="square" lIns="36576" rIns="36576" anchor="t">
            <a:spAutoFit/>
          </a:bodyPr>
          <a:lstStyle/>
          <a:p>
            <a:pPr algn="l"/>
            <a:r>
              <a:rPr sz="1500" b="0">
                <a:solidFill>
                  <a:srgbClr val="5B6778"/>
                </a:solidFill>
                <a:latin typeface="Calibri"/>
              </a:rPr>
              <a:t>What each mode needs, and what each failure means</a:t>
            </a:r>
          </a:p>
        </p:txBody>
      </p:sp>
      <p:sp>
        <p:nvSpPr>
          <p:cNvPr id="4" name="Rectangle 3"/>
          <p:cNvSpPr/>
          <p:nvPr/>
        </p:nvSpPr>
        <p:spPr>
          <a:xfrm>
            <a:off x="548640" y="1371600"/>
            <a:ext cx="1097280" cy="5486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91640"/>
            <a:ext cx="5029200" cy="4526280"/>
          </a:xfrm>
          <a:prstGeom prst="roundRect">
            <a:avLst>
              <a:gd name="adj" fmla="val 5000"/>
            </a:avLst>
          </a:prstGeom>
          <a:solidFill>
            <a:srgbClr val="FFFBF5"/>
          </a:solidFill>
          <a:ln w="15875">
            <a:solidFill>
              <a:srgbClr val="B4530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46504"/>
            <a:ext cx="4754880" cy="320040"/>
          </a:xfrm>
          <a:prstGeom prst="rect">
            <a:avLst/>
          </a:prstGeom>
          <a:noFill/>
        </p:spPr>
        <p:txBody>
          <a:bodyPr wrap="square" lIns="36576" rIns="36576" anchor="t">
            <a:spAutoFit/>
          </a:bodyPr>
          <a:lstStyle/>
          <a:p>
            <a:pPr algn="l"/>
            <a:r>
              <a:rPr sz="1200" b="1">
                <a:solidFill>
                  <a:srgbClr val="B45309"/>
                </a:solidFill>
                <a:latin typeface="Calibri"/>
              </a:rPr>
              <a:t>WHAT EACH MODE NEEDS</a:t>
            </a:r>
          </a:p>
        </p:txBody>
      </p:sp>
      <p:sp>
        <p:nvSpPr>
          <p:cNvPr id="7" name="Rounded Rectangle 6"/>
          <p:cNvSpPr/>
          <p:nvPr/>
        </p:nvSpPr>
        <p:spPr>
          <a:xfrm>
            <a:off x="822960" y="2103120"/>
            <a:ext cx="4480560" cy="914400"/>
          </a:xfrm>
          <a:prstGeom prst="roundRect">
            <a:avLst>
              <a:gd name="adj" fmla="val 12000"/>
            </a:avLst>
          </a:prstGeom>
          <a:solidFill>
            <a:srgbClr val="E8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5803D"/>
                </a:solidFill>
                <a:latin typeface="Calibri"/>
              </a:rPr>
              <a:t>Local (Ollama)</a:t>
            </a:r>
          </a:p>
          <a:p>
            <a:pPr algn="ctr"/>
            <a:r>
              <a:rPr sz="1100" b="0">
                <a:solidFill>
                  <a:srgbClr val="1F2937"/>
                </a:solidFill>
                <a:latin typeface="Calibri"/>
              </a:rPr>
              <a:t>Ollama running at localhost:11434</a:t>
            </a:r>
          </a:p>
          <a:p>
            <a:pPr algn="ctr"/>
            <a:r>
              <a:rPr sz="1100" b="0">
                <a:solidFill>
                  <a:srgbClr val="1F2937"/>
                </a:solidFill>
                <a:latin typeface="Calibri"/>
              </a:rPr>
              <a:t>a downloaded model · no token</a:t>
            </a:r>
          </a:p>
        </p:txBody>
      </p:sp>
      <p:sp>
        <p:nvSpPr>
          <p:cNvPr id="8" name="TextBox 7"/>
          <p:cNvSpPr txBox="1"/>
          <p:nvPr/>
        </p:nvSpPr>
        <p:spPr>
          <a:xfrm>
            <a:off x="822960" y="3154680"/>
            <a:ext cx="4480560" cy="274320"/>
          </a:xfrm>
          <a:prstGeom prst="rect">
            <a:avLst/>
          </a:prstGeom>
          <a:noFill/>
        </p:spPr>
        <p:txBody>
          <a:bodyPr wrap="square" lIns="36576" rIns="36576" anchor="t">
            <a:spAutoFit/>
          </a:bodyPr>
          <a:lstStyle/>
          <a:p>
            <a:pPr algn="l"/>
            <a:r>
              <a:rPr sz="1100" b="1">
                <a:solidFill>
                  <a:srgbClr val="B45309"/>
                </a:solidFill>
                <a:latin typeface="Calibri"/>
              </a:rPr>
              <a:t>Hosted (Hugging Face): token, first one found wins</a:t>
            </a:r>
          </a:p>
        </p:txBody>
      </p:sp>
      <p:sp>
        <p:nvSpPr>
          <p:cNvPr id="9" name="Rounded Rectangle 8"/>
          <p:cNvSpPr/>
          <p:nvPr/>
        </p:nvSpPr>
        <p:spPr>
          <a:xfrm>
            <a:off x="822960" y="3474720"/>
            <a:ext cx="4480560" cy="603504"/>
          </a:xfrm>
          <a:prstGeom prst="roundRect">
            <a:avLst>
              <a:gd name="adj" fmla="val 12000"/>
            </a:avLst>
          </a:prstGeom>
          <a:solidFill>
            <a:srgbClr val="FEF3E2"/>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B45309"/>
                </a:solidFill>
                <a:latin typeface="Calibri"/>
              </a:rPr>
              <a:t>1. Sidebar password box</a:t>
            </a:r>
          </a:p>
          <a:p>
            <a:pPr algn="ctr"/>
            <a:r>
              <a:rPr sz="1000" b="0">
                <a:solidFill>
                  <a:srgbClr val="1F2937"/>
                </a:solidFill>
                <a:latin typeface="Calibri"/>
              </a:rPr>
              <a:t>never printed</a:t>
            </a:r>
          </a:p>
        </p:txBody>
      </p:sp>
      <p:sp>
        <p:nvSpPr>
          <p:cNvPr id="10" name="Rounded Rectangle 9"/>
          <p:cNvSpPr/>
          <p:nvPr/>
        </p:nvSpPr>
        <p:spPr>
          <a:xfrm>
            <a:off x="822960" y="4187952"/>
            <a:ext cx="4480560" cy="603504"/>
          </a:xfrm>
          <a:prstGeom prst="roundRect">
            <a:avLst>
              <a:gd name="adj" fmla="val 12000"/>
            </a:avLst>
          </a:prstGeom>
          <a:solidFill>
            <a:srgbClr val="FEF3E2"/>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B45309"/>
                </a:solidFill>
                <a:latin typeface="Calibri"/>
              </a:rPr>
              <a:t>2. .streamlit/secrets.toml</a:t>
            </a:r>
          </a:p>
          <a:p>
            <a:pPr algn="ctr"/>
            <a:r>
              <a:rPr sz="1000" b="0">
                <a:solidFill>
                  <a:srgbClr val="1F2937"/>
                </a:solidFill>
                <a:latin typeface="Calibri"/>
              </a:rPr>
              <a:t>HF_TOKEN = "hf_…" (git-ignored)</a:t>
            </a:r>
          </a:p>
        </p:txBody>
      </p:sp>
      <p:sp>
        <p:nvSpPr>
          <p:cNvPr id="11" name="Rounded Rectangle 10"/>
          <p:cNvSpPr/>
          <p:nvPr/>
        </p:nvSpPr>
        <p:spPr>
          <a:xfrm>
            <a:off x="822960" y="4901183"/>
            <a:ext cx="4480560" cy="603504"/>
          </a:xfrm>
          <a:prstGeom prst="roundRect">
            <a:avLst>
              <a:gd name="adj" fmla="val 12000"/>
            </a:avLst>
          </a:prstGeom>
          <a:solidFill>
            <a:srgbClr val="FEF3E2"/>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B45309"/>
                </a:solidFill>
                <a:latin typeface="Calibri"/>
              </a:rPr>
              <a:t>3. HF_TOKEN environment variable</a:t>
            </a:r>
          </a:p>
          <a:p>
            <a:pPr algn="ctr"/>
            <a:r>
              <a:rPr sz="1000" b="0">
                <a:solidFill>
                  <a:srgbClr val="1F2937"/>
                </a:solidFill>
                <a:latin typeface="Calibri"/>
              </a:rPr>
              <a:t>servers and deployment</a:t>
            </a:r>
          </a:p>
        </p:txBody>
      </p:sp>
      <p:sp>
        <p:nvSpPr>
          <p:cNvPr id="12" name="Rounded Rectangle 11"/>
          <p:cNvSpPr/>
          <p:nvPr/>
        </p:nvSpPr>
        <p:spPr>
          <a:xfrm>
            <a:off x="5943600" y="1691640"/>
            <a:ext cx="5715000" cy="4526280"/>
          </a:xfrm>
          <a:prstGeom prst="roundRect">
            <a:avLst>
              <a:gd name="adj" fmla="val 5000"/>
            </a:avLst>
          </a:prstGeom>
          <a:solidFill>
            <a:srgbClr val="F8FDFC"/>
          </a:solidFill>
          <a:ln w="15875">
            <a:solidFill>
              <a:srgbClr val="0F766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80760" y="1746504"/>
            <a:ext cx="5440680" cy="320040"/>
          </a:xfrm>
          <a:prstGeom prst="rect">
            <a:avLst/>
          </a:prstGeom>
          <a:noFill/>
        </p:spPr>
        <p:txBody>
          <a:bodyPr wrap="square" lIns="36576" rIns="36576" anchor="t">
            <a:spAutoFit/>
          </a:bodyPr>
          <a:lstStyle/>
          <a:p>
            <a:pPr algn="l"/>
            <a:r>
              <a:rPr sz="1200" b="1">
                <a:solidFill>
                  <a:srgbClr val="0F766E"/>
                </a:solidFill>
                <a:latin typeface="Calibri"/>
              </a:rPr>
              <a:t>ERRORS  →  WHAT THE APP TELLS YOU</a:t>
            </a:r>
          </a:p>
        </p:txBody>
      </p:sp>
      <p:sp>
        <p:nvSpPr>
          <p:cNvPr id="14" name="Rounded Rectangle 13"/>
          <p:cNvSpPr/>
          <p:nvPr/>
        </p:nvSpPr>
        <p:spPr>
          <a:xfrm>
            <a:off x="6217920" y="2103120"/>
            <a:ext cx="914400" cy="484632"/>
          </a:xfrm>
          <a:prstGeom prst="roundRect">
            <a:avLst>
              <a:gd name="adj" fmla="val 12000"/>
            </a:avLst>
          </a:prstGeom>
          <a:solidFill>
            <a:srgbClr val="15803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Local</a:t>
            </a:r>
          </a:p>
        </p:txBody>
      </p:sp>
      <p:sp>
        <p:nvSpPr>
          <p:cNvPr id="15" name="Rounded Rectangle 14"/>
          <p:cNvSpPr/>
          <p:nvPr/>
        </p:nvSpPr>
        <p:spPr>
          <a:xfrm>
            <a:off x="7269480" y="2103120"/>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Ollama not running: start the Ollama app</a:t>
            </a:r>
          </a:p>
        </p:txBody>
      </p:sp>
      <p:sp>
        <p:nvSpPr>
          <p:cNvPr id="16" name="Rounded Rectangle 15"/>
          <p:cNvSpPr/>
          <p:nvPr/>
        </p:nvSpPr>
        <p:spPr>
          <a:xfrm>
            <a:off x="6217920" y="2679191"/>
            <a:ext cx="914400" cy="484632"/>
          </a:xfrm>
          <a:prstGeom prst="roundRect">
            <a:avLst>
              <a:gd name="adj" fmla="val 12000"/>
            </a:avLst>
          </a:prstGeom>
          <a:solidFill>
            <a:srgbClr val="15803D"/>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Local</a:t>
            </a:r>
          </a:p>
        </p:txBody>
      </p:sp>
      <p:sp>
        <p:nvSpPr>
          <p:cNvPr id="17" name="Rounded Rectangle 16"/>
          <p:cNvSpPr/>
          <p:nvPr/>
        </p:nvSpPr>
        <p:spPr>
          <a:xfrm>
            <a:off x="7269480" y="2679191"/>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Model not downloaded: run: ollama pull &lt;model&gt;</a:t>
            </a:r>
          </a:p>
        </p:txBody>
      </p:sp>
      <p:sp>
        <p:nvSpPr>
          <p:cNvPr id="18" name="Rounded Rectangle 17"/>
          <p:cNvSpPr/>
          <p:nvPr/>
        </p:nvSpPr>
        <p:spPr>
          <a:xfrm>
            <a:off x="6217920" y="3255263"/>
            <a:ext cx="914400" cy="484632"/>
          </a:xfrm>
          <a:prstGeom prst="roundRect">
            <a:avLst>
              <a:gd name="adj" fmla="val 12000"/>
            </a:avLst>
          </a:prstGeom>
          <a:solidFill>
            <a:srgbClr val="B91C1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401</a:t>
            </a:r>
          </a:p>
        </p:txBody>
      </p:sp>
      <p:sp>
        <p:nvSpPr>
          <p:cNvPr id="19" name="Rounded Rectangle 18"/>
          <p:cNvSpPr/>
          <p:nvPr/>
        </p:nvSpPr>
        <p:spPr>
          <a:xfrm>
            <a:off x="7269480" y="3255263"/>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Token rejected: copy the whole token / create a new one</a:t>
            </a:r>
          </a:p>
        </p:txBody>
      </p:sp>
      <p:sp>
        <p:nvSpPr>
          <p:cNvPr id="20" name="Rounded Rectangle 19"/>
          <p:cNvSpPr/>
          <p:nvPr/>
        </p:nvSpPr>
        <p:spPr>
          <a:xfrm>
            <a:off x="6217920" y="3831335"/>
            <a:ext cx="914400" cy="484632"/>
          </a:xfrm>
          <a:prstGeom prst="roundRect">
            <a:avLst>
              <a:gd name="adj" fmla="val 12000"/>
            </a:avLst>
          </a:prstGeom>
          <a:solidFill>
            <a:srgbClr val="B45309"/>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402</a:t>
            </a:r>
          </a:p>
        </p:txBody>
      </p:sp>
      <p:sp>
        <p:nvSpPr>
          <p:cNvPr id="21" name="Rounded Rectangle 20"/>
          <p:cNvSpPr/>
          <p:nvPr/>
        </p:nvSpPr>
        <p:spPr>
          <a:xfrm>
            <a:off x="7269480" y="3831335"/>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Out of credits: monthly reset, add credits, or use local mode</a:t>
            </a:r>
          </a:p>
        </p:txBody>
      </p:sp>
      <p:sp>
        <p:nvSpPr>
          <p:cNvPr id="22" name="Rounded Rectangle 21"/>
          <p:cNvSpPr/>
          <p:nvPr/>
        </p:nvSpPr>
        <p:spPr>
          <a:xfrm>
            <a:off x="6217920" y="4407408"/>
            <a:ext cx="914400" cy="484632"/>
          </a:xfrm>
          <a:prstGeom prst="roundRect">
            <a:avLst>
              <a:gd name="adj" fmla="val 12000"/>
            </a:avLst>
          </a:prstGeom>
          <a:solidFill>
            <a:srgbClr val="B91C1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403</a:t>
            </a:r>
          </a:p>
        </p:txBody>
      </p:sp>
      <p:sp>
        <p:nvSpPr>
          <p:cNvPr id="23" name="Rounded Rectangle 22"/>
          <p:cNvSpPr/>
          <p:nvPr/>
        </p:nvSpPr>
        <p:spPr>
          <a:xfrm>
            <a:off x="7269480" y="4407408"/>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Not allowed: licence pending, or token lacks permission</a:t>
            </a:r>
          </a:p>
        </p:txBody>
      </p:sp>
      <p:sp>
        <p:nvSpPr>
          <p:cNvPr id="24" name="Rounded Rectangle 23"/>
          <p:cNvSpPr/>
          <p:nvPr/>
        </p:nvSpPr>
        <p:spPr>
          <a:xfrm>
            <a:off x="6217920" y="4983479"/>
            <a:ext cx="914400" cy="484632"/>
          </a:xfrm>
          <a:prstGeom prst="roundRect">
            <a:avLst>
              <a:gd name="adj" fmla="val 12000"/>
            </a:avLst>
          </a:prstGeom>
          <a:solidFill>
            <a:srgbClr val="8A94A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404</a:t>
            </a:r>
          </a:p>
        </p:txBody>
      </p:sp>
      <p:sp>
        <p:nvSpPr>
          <p:cNvPr id="25" name="Rounded Rectangle 24"/>
          <p:cNvSpPr/>
          <p:nvPr/>
        </p:nvSpPr>
        <p:spPr>
          <a:xfrm>
            <a:off x="7269480" y="4983479"/>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No provider: pick another model / enable providers</a:t>
            </a:r>
          </a:p>
        </p:txBody>
      </p:sp>
      <p:sp>
        <p:nvSpPr>
          <p:cNvPr id="26" name="Rounded Rectangle 25"/>
          <p:cNvSpPr/>
          <p:nvPr/>
        </p:nvSpPr>
        <p:spPr>
          <a:xfrm>
            <a:off x="6217920" y="5559552"/>
            <a:ext cx="914400" cy="484632"/>
          </a:xfrm>
          <a:prstGeom prst="roundRect">
            <a:avLst>
              <a:gd name="adj" fmla="val 12000"/>
            </a:avLst>
          </a:prstGeom>
          <a:solidFill>
            <a:srgbClr val="B45309"/>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429</a:t>
            </a:r>
          </a:p>
        </p:txBody>
      </p:sp>
      <p:sp>
        <p:nvSpPr>
          <p:cNvPr id="27" name="Rounded Rectangle 26"/>
          <p:cNvSpPr/>
          <p:nvPr/>
        </p:nvSpPr>
        <p:spPr>
          <a:xfrm>
            <a:off x="7269480" y="5559552"/>
            <a:ext cx="4114800" cy="484632"/>
          </a:xfrm>
          <a:prstGeom prst="roundRect">
            <a:avLst>
              <a:gd name="adj" fmla="val 12000"/>
            </a:avLst>
          </a:prstGeom>
          <a:solidFill>
            <a:srgbClr val="FFFFFF"/>
          </a:solidFill>
          <a:ln w="1905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050" b="0">
                <a:solidFill>
                  <a:srgbClr val="1F2937"/>
                </a:solidFill>
                <a:latin typeface="Calibri"/>
              </a:rPr>
              <a:t>Rate limited: wait and retry</a:t>
            </a:r>
          </a:p>
        </p:txBody>
      </p:sp>
      <p:sp>
        <p:nvSpPr>
          <p:cNvPr id="28" name="TextBox 27"/>
          <p:cNvSpPr txBox="1"/>
          <p:nvPr/>
        </p:nvSpPr>
        <p:spPr>
          <a:xfrm>
            <a:off x="548640" y="6446520"/>
            <a:ext cx="8229600" cy="274320"/>
          </a:xfrm>
          <a:prstGeom prst="rect">
            <a:avLst/>
          </a:prstGeom>
          <a:noFill/>
        </p:spPr>
        <p:txBody>
          <a:bodyPr wrap="square" lIns="36576" rIns="36576" anchor="t">
            <a:spAutoFit/>
          </a:bodyPr>
          <a:lstStyle/>
          <a:p>
            <a:pPr algn="l"/>
            <a:r>
              <a:rPr sz="1000" b="0">
                <a:solidFill>
                  <a:srgbClr val="8A94A3"/>
                </a:solidFill>
                <a:latin typeface="Calibri"/>
              </a:rPr>
              <a:t>Text Generation Playground  ·  09-ai-competencies/inference-model-apis/text-generation-app</a:t>
            </a:r>
          </a:p>
        </p:txBody>
      </p:sp>
      <p:sp>
        <p:nvSpPr>
          <p:cNvPr id="29" name="TextBox 28"/>
          <p:cNvSpPr txBox="1"/>
          <p:nvPr/>
        </p:nvSpPr>
        <p:spPr>
          <a:xfrm>
            <a:off x="10881360" y="6446520"/>
            <a:ext cx="822960" cy="274320"/>
          </a:xfrm>
          <a:prstGeom prst="rect">
            <a:avLst/>
          </a:prstGeom>
          <a:noFill/>
        </p:spPr>
        <p:txBody>
          <a:bodyPr wrap="square" lIns="36576" rIns="36576" anchor="t">
            <a:spAutoFit/>
          </a:bodyPr>
          <a:lstStyle/>
          <a:p>
            <a:pPr algn="r"/>
            <a:r>
              <a:rPr sz="1000" b="0">
                <a:solidFill>
                  <a:srgbClr val="8A94A3"/>
                </a:solidFill>
                <a:latin typeface="Calibri"/>
              </a:rPr>
              <a:t>6 /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