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The four colours are used consistently on every diagram: blue = user interface, purple = LangChain orchestration, teal = Hugging Face model serving, amber = configuration and secrets.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on the left runs on your Mac: the browser and one Python process (Streamlit + LangChain). Only the model itself runs in the cloud. The router authenticates the token, checks gated-licence approval and billing credits, then forwards the request to an inference provider that serves the model. The answer is streamed back token by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Steps 1-4 happen on your Mac. Step 5 is the only network call. Step 6 is where the 401/402/403 errors come from. Steps 8-10 repeat for every chunk, which is why the answer appears gradually.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Because the layers are separate, swapping the model backend (for example to a local Ollama model) only changes the model-integration layer; the UI and the prompt chain stay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friendly_error() in app.py maps these HTTP status codes to plain-language advice and appends Hugging Face's own message. check_access.py diagnoses 401/403 problems from the command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Text Generation Playground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600" b="0">
                <a:solidFill>
                  <a:srgbClr val="93C5FD"/>
                </a:solidFill>
                <a:latin typeface="Calibri"/>
              </a:rPr>
              <a:t>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8229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Streamlit  ·  LangChain  ·  Hugging Face Inference Providers</a:t>
            </a:r>
          </a:p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Type a prompt, pick a model, get the answer streamed 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120640"/>
            <a:ext cx="196596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User interface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5120640"/>
            <a:ext cx="196596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Orchestration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5120640"/>
            <a:ext cx="1965960" cy="4572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Model serving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5120640"/>
            <a:ext cx="1965960" cy="45720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Configuration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0">
                <a:solidFill>
                  <a:srgbClr val="5B6778"/>
                </a:solidFill>
                <a:latin typeface="Calibri"/>
              </a:rPr>
              <a:t>What runs where, and how a prompt becomes generated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097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645920"/>
            <a:ext cx="6903720" cy="4526280"/>
          </a:xfrm>
          <a:prstGeom prst="roundRect">
            <a:avLst>
              <a:gd name="adj" fmla="val 5000"/>
            </a:avLst>
          </a:prstGeom>
          <a:solidFill>
            <a:srgbClr val="FAFCFF"/>
          </a:solidFill>
          <a:ln w="15875">
            <a:solidFill>
              <a:srgbClr val="2563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00784"/>
            <a:ext cx="66294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YOUR MAC  (localhost)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2011680" cy="210312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563EB"/>
                </a:solidFill>
                <a:latin typeface="Calibri"/>
              </a:rPr>
              <a:t>Web browser</a:t>
            </a:r>
          </a:p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localhost:8501</a:t>
            </a:r>
          </a:p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token · model</a:t>
            </a:r>
          </a:p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prompt · sliders</a:t>
            </a:r>
          </a:p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streamed answer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2057400"/>
            <a:ext cx="40690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112264"/>
            <a:ext cx="37947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app.py  ·  Streamlit server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468880"/>
            <a:ext cx="3611880" cy="64008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563EB"/>
                </a:solidFill>
                <a:latin typeface="Calibri"/>
              </a:rPr>
              <a:t>Streamlit UI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sidebar · selectbox · text_area · button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246120"/>
            <a:ext cx="3611880" cy="1554480"/>
          </a:xfrm>
          <a:prstGeom prst="roundRect">
            <a:avLst>
              <a:gd name="adj" fmla="val 5000"/>
            </a:avLst>
          </a:prstGeom>
          <a:solidFill>
            <a:srgbClr val="F1EAFE"/>
          </a:solidFill>
          <a:ln w="15875">
            <a:solidFill>
              <a:srgbClr val="7C3AE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3300984"/>
            <a:ext cx="33375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LangChain chain (LCEL)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611880"/>
            <a:ext cx="1024128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7C3AED"/>
                </a:solidFill>
                <a:latin typeface="Calibri"/>
              </a:rPr>
              <a:t>ChatPrompt
Template</a:t>
            </a:r>
          </a:p>
          <a:p>
            <a:pPr algn="ctr"/>
            <a:r>
              <a:rPr sz="900" b="0">
                <a:solidFill>
                  <a:srgbClr val="1F2937"/>
                </a:solidFill>
                <a:latin typeface="Calibri"/>
              </a:rPr>
              <a:t>system + user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99432" y="3611880"/>
            <a:ext cx="1024128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7C3AED"/>
                </a:solidFill>
                <a:latin typeface="Calibri"/>
              </a:rPr>
              <a:t>ChatHugging
Face</a:t>
            </a:r>
          </a:p>
          <a:p>
            <a:pPr algn="ctr"/>
            <a:r>
              <a:rPr sz="900" b="0">
                <a:solidFill>
                  <a:srgbClr val="1F2937"/>
                </a:solidFill>
                <a:latin typeface="Calibri"/>
              </a:rPr>
              <a:t>the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9864" y="3611880"/>
            <a:ext cx="1024128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7C3AED"/>
                </a:solidFill>
                <a:latin typeface="Calibri"/>
              </a:rPr>
              <a:t>StrOutput
Parser</a:t>
            </a:r>
          </a:p>
          <a:p>
            <a:pPr algn="ctr"/>
            <a:r>
              <a:rPr sz="900" b="0">
                <a:solidFill>
                  <a:srgbClr val="1F2937"/>
                </a:solidFill>
                <a:latin typeface="Calibri"/>
              </a:rPr>
              <a:t>→ plain text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453128" y="4123944"/>
            <a:ext cx="146304" cy="0"/>
          </a:xfrm>
          <a:prstGeom prst="line">
            <a:avLst/>
          </a:prstGeom>
          <a:ln w="1905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623560" y="4123944"/>
            <a:ext cx="146304" cy="0"/>
          </a:xfrm>
          <a:prstGeom prst="line">
            <a:avLst/>
          </a:prstGeom>
          <a:ln w="1905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5800" y="5120640"/>
            <a:ext cx="3017520" cy="868680"/>
          </a:xfrm>
          <a:prstGeom prst="roundRect">
            <a:avLst>
              <a:gd name="adj" fmla="val 12000"/>
            </a:avLst>
          </a:prstGeom>
          <a:solidFill>
            <a:srgbClr val="FEF3E2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B45309"/>
                </a:solidFill>
                <a:latin typeface="Calibri"/>
              </a:rPr>
              <a:t>Token sources (first found wins)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1 sidebar  ·  2 secrets.toml  ·  3 HF_TOKEN env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0" y="5120640"/>
            <a:ext cx="3200400" cy="868680"/>
          </a:xfrm>
          <a:prstGeom prst="roundRect">
            <a:avLst>
              <a:gd name="adj" fmla="val 12000"/>
            </a:avLst>
          </a:prstGeom>
          <a:solidFill>
            <a:srgbClr val="E6F6F4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766E"/>
                </a:solidFill>
                <a:latin typeface="Calibri"/>
              </a:rPr>
              <a:t>huggingface_hub client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HTTPS · streaming · Bearer token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1645920"/>
            <a:ext cx="4114800" cy="4526280"/>
          </a:xfrm>
          <a:prstGeom prst="roundRect">
            <a:avLst>
              <a:gd name="adj" fmla="val 5000"/>
            </a:avLst>
          </a:prstGeom>
          <a:solidFill>
            <a:srgbClr val="F8FDFC"/>
          </a:solidFill>
          <a:ln w="15875">
            <a:solidFill>
              <a:srgbClr val="0F766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1700784"/>
            <a:ext cx="38404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HUGGING FACE CLOUD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2148840"/>
            <a:ext cx="3566160" cy="1097280"/>
          </a:xfrm>
          <a:prstGeom prst="roundRect">
            <a:avLst>
              <a:gd name="adj" fmla="val 12000"/>
            </a:avLst>
          </a:prstGeom>
          <a:solidFill>
            <a:srgbClr val="E6F6F4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F766E"/>
                </a:solidFill>
                <a:latin typeface="Calibri"/>
              </a:rPr>
              <a:t>Inference router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router.huggingface.co/v1/chat/completions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checks token · licence · credits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356616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F766E"/>
                </a:solidFill>
                <a:latin typeface="Calibri"/>
              </a:rPr>
              <a:t>Account checks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gated licence approved?  ·  credits left?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4709160"/>
            <a:ext cx="1737360" cy="54864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937"/>
                </a:solidFill>
                <a:latin typeface="Calibri"/>
              </a:rPr>
              <a:t>groq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4709160"/>
            <a:ext cx="1737360" cy="54864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937"/>
                </a:solidFill>
                <a:latin typeface="Calibri"/>
              </a:rPr>
              <a:t>nscale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5367528"/>
            <a:ext cx="1737360" cy="54864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937"/>
                </a:solidFill>
                <a:latin typeface="Calibri"/>
              </a:rPr>
              <a:t>deepinfra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84080" y="5367528"/>
            <a:ext cx="1737360" cy="54864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9050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937"/>
                </a:solidFill>
                <a:latin typeface="Calibri"/>
              </a:rPr>
              <a:t>featherless-ai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5989320"/>
            <a:ext cx="356616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00" b="0">
                <a:solidFill>
                  <a:srgbClr val="5B6778"/>
                </a:solidFill>
                <a:latin typeface="Calibri"/>
              </a:rPr>
              <a:t>Inference providers run the model on GPUs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2697480" y="2788920"/>
            <a:ext cx="594360" cy="182880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651760" y="2514600"/>
            <a:ext cx="73152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0">
                <a:solidFill>
                  <a:srgbClr val="5B6778"/>
                </a:solidFill>
                <a:latin typeface="Calibri"/>
              </a:rPr>
              <a:t>HTTP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93208" y="3108960"/>
            <a:ext cx="0" cy="502920"/>
          </a:xfrm>
          <a:prstGeom prst="line">
            <a:avLst/>
          </a:prstGeom>
          <a:ln w="1905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194560" y="4434840"/>
            <a:ext cx="1097280" cy="685800"/>
          </a:xfrm>
          <a:prstGeom prst="line">
            <a:avLst/>
          </a:prstGeom>
          <a:ln w="19050">
            <a:solidFill>
              <a:srgbClr val="B45309"/>
            </a:solidFill>
            <a:prstDash val="lg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486400" y="4636008"/>
            <a:ext cx="0" cy="484632"/>
          </a:xfrm>
          <a:prstGeom prst="line">
            <a:avLst/>
          </a:prstGeom>
          <a:ln w="1905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132320" y="2743200"/>
            <a:ext cx="822959" cy="2743200"/>
          </a:xfrm>
          <a:prstGeom prst="line">
            <a:avLst/>
          </a:prstGeom>
          <a:ln w="31750">
            <a:solidFill>
              <a:srgbClr val="0F766E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852160" y="6199632"/>
            <a:ext cx="292608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00" b="0">
                <a:solidFill>
                  <a:srgbClr val="0F766E"/>
                </a:solidFill>
                <a:latin typeface="Calibri"/>
              </a:rPr>
              <a:t>HTTPS  ·  answer streamed back token by token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738360" y="3246120"/>
            <a:ext cx="0" cy="320040"/>
          </a:xfrm>
          <a:prstGeom prst="line">
            <a:avLst/>
          </a:prstGeom>
          <a:ln w="1905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738360" y="4480560"/>
            <a:ext cx="0" cy="228600"/>
          </a:xfrm>
          <a:prstGeom prst="line">
            <a:avLst/>
          </a:prstGeom>
          <a:ln w="1905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0">
                <a:solidFill>
                  <a:srgbClr val="8A94A3"/>
                </a:solidFill>
                <a:latin typeface="Calibri"/>
              </a:rPr>
              <a:t>Text Generation Playground  ·  09-ai-competencies/inference-model-apis/text-generation-app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000" b="0">
                <a:solidFill>
                  <a:srgbClr val="8A94A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Request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0">
                <a:solidFill>
                  <a:srgbClr val="5B6778"/>
                </a:solidFill>
                <a:latin typeface="Calibri"/>
              </a:rPr>
              <a:t>What happens when you click “Generate Text”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097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1691640"/>
            <a:ext cx="1828800" cy="50292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563EB"/>
                </a:solidFill>
                <a:latin typeface="Calibri"/>
              </a:rPr>
              <a:t>User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34440" y="2194560"/>
            <a:ext cx="0" cy="4069080"/>
          </a:xfrm>
          <a:prstGeom prst="line">
            <a:avLst/>
          </a:prstGeom>
          <a:ln w="15875">
            <a:solidFill>
              <a:srgbClr val="D1D5DB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606040" y="1691640"/>
            <a:ext cx="1828800" cy="50292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563EB"/>
                </a:solidFill>
                <a:latin typeface="Calibri"/>
              </a:rPr>
              <a:t>Streamlit app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20440" y="2194560"/>
            <a:ext cx="0" cy="4069080"/>
          </a:xfrm>
          <a:prstGeom prst="line">
            <a:avLst/>
          </a:prstGeom>
          <a:ln w="15875">
            <a:solidFill>
              <a:srgbClr val="D1D5DB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892040" y="1691640"/>
            <a:ext cx="1828800" cy="502920"/>
          </a:xfrm>
          <a:prstGeom prst="roundRect">
            <a:avLst>
              <a:gd name="adj" fmla="val 12000"/>
            </a:avLst>
          </a:prstGeom>
          <a:solidFill>
            <a:srgbClr val="F1EAF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7C3AED"/>
                </a:solidFill>
                <a:latin typeface="Calibri"/>
              </a:rPr>
              <a:t>LangChain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06440" y="2194560"/>
            <a:ext cx="0" cy="4069080"/>
          </a:xfrm>
          <a:prstGeom prst="line">
            <a:avLst/>
          </a:prstGeom>
          <a:ln w="15875">
            <a:solidFill>
              <a:srgbClr val="D1D5DB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178040" y="1691640"/>
            <a:ext cx="1828800" cy="502920"/>
          </a:xfrm>
          <a:prstGeom prst="roundRect">
            <a:avLst>
              <a:gd name="adj" fmla="val 12000"/>
            </a:avLst>
          </a:prstGeom>
          <a:solidFill>
            <a:srgbClr val="E6F6F4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766E"/>
                </a:solidFill>
                <a:latin typeface="Calibri"/>
              </a:rPr>
              <a:t>HF router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92440" y="2194560"/>
            <a:ext cx="0" cy="4069080"/>
          </a:xfrm>
          <a:prstGeom prst="line">
            <a:avLst/>
          </a:prstGeom>
          <a:ln w="15875">
            <a:solidFill>
              <a:srgbClr val="D1D5DB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464040" y="1691640"/>
            <a:ext cx="1828800" cy="502920"/>
          </a:xfrm>
          <a:prstGeom prst="roundRect">
            <a:avLst>
              <a:gd name="adj" fmla="val 12000"/>
            </a:avLst>
          </a:prstGeom>
          <a:solidFill>
            <a:srgbClr val="E6F6F4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766E"/>
                </a:solidFill>
                <a:latin typeface="Calibri"/>
              </a:rPr>
              <a:t>Provider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378440" y="2194560"/>
            <a:ext cx="0" cy="4069080"/>
          </a:xfrm>
          <a:prstGeom prst="line">
            <a:avLst/>
          </a:prstGeom>
          <a:ln w="15875">
            <a:solidFill>
              <a:srgbClr val="D1D5DB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34440" y="2514600"/>
            <a:ext cx="2286000" cy="0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325880" y="2212848"/>
            <a:ext cx="219456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1  click Generate Text</a:t>
            </a:r>
          </a:p>
        </p:txBody>
      </p:sp>
      <p:sp>
        <p:nvSpPr>
          <p:cNvPr id="17" name="Oval 16"/>
          <p:cNvSpPr/>
          <p:nvPr/>
        </p:nvSpPr>
        <p:spPr>
          <a:xfrm>
            <a:off x="3438144" y="2807208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734056"/>
            <a:ext cx="2103120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2  check token &amp; prompt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20440" y="3264408"/>
            <a:ext cx="2286000" cy="0"/>
          </a:xfrm>
          <a:prstGeom prst="line">
            <a:avLst/>
          </a:prstGeom>
          <a:ln w="22225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11880" y="2962656"/>
            <a:ext cx="2194559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3  build chain, stream()</a:t>
            </a:r>
          </a:p>
        </p:txBody>
      </p:sp>
      <p:sp>
        <p:nvSpPr>
          <p:cNvPr id="21" name="Oval 20"/>
          <p:cNvSpPr/>
          <p:nvPr/>
        </p:nvSpPr>
        <p:spPr>
          <a:xfrm>
            <a:off x="5724144" y="3557016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3483864"/>
            <a:ext cx="2103120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4  fill chat template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06440" y="4014216"/>
            <a:ext cx="2286000" cy="0"/>
          </a:xfrm>
          <a:prstGeom prst="line">
            <a:avLst/>
          </a:prstGeom>
          <a:ln w="22225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97879" y="3712464"/>
            <a:ext cx="219456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5  POST chat/completions</a:t>
            </a:r>
          </a:p>
        </p:txBody>
      </p:sp>
      <p:sp>
        <p:nvSpPr>
          <p:cNvPr id="25" name="Oval 24"/>
          <p:cNvSpPr/>
          <p:nvPr/>
        </p:nvSpPr>
        <p:spPr>
          <a:xfrm>
            <a:off x="8010144" y="4306824"/>
            <a:ext cx="164592" cy="16459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233672"/>
            <a:ext cx="2103120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6  token · licence · credits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092440" y="4764024"/>
            <a:ext cx="2286000" cy="0"/>
          </a:xfrm>
          <a:prstGeom prst="line">
            <a:avLst/>
          </a:prstGeom>
          <a:ln w="22225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183879" y="4462272"/>
            <a:ext cx="219456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7  forward to provider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5806440" y="5138928"/>
            <a:ext cx="4572000" cy="0"/>
          </a:xfrm>
          <a:prstGeom prst="line">
            <a:avLst/>
          </a:prstGeom>
          <a:ln w="22225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897879" y="4837176"/>
            <a:ext cx="448056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8  tokens streamed back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3520440" y="5513832"/>
            <a:ext cx="2286000" cy="0"/>
          </a:xfrm>
          <a:prstGeom prst="line">
            <a:avLst/>
          </a:prstGeom>
          <a:ln w="22225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611880" y="5212080"/>
            <a:ext cx="2194559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9  text chunks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1234440" y="5888736"/>
            <a:ext cx="2286000" cy="0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325880" y="5586984"/>
            <a:ext cx="219456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10  st.write_stream shows text 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0">
                <a:solidFill>
                  <a:srgbClr val="8A94A3"/>
                </a:solidFill>
                <a:latin typeface="Calibri"/>
              </a:rPr>
              <a:t>Text Generation Playground  ·  09-ai-competencies/inference-model-apis/text-generation-app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000" b="0">
                <a:solidFill>
                  <a:srgbClr val="8A94A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Components and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0">
                <a:solidFill>
                  <a:srgbClr val="5B6778"/>
                </a:solidFill>
                <a:latin typeface="Calibri"/>
              </a:rPr>
              <a:t>Each layer has one job and depends only on the layer below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097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2651760" cy="77724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563EB"/>
                </a:solidFill>
                <a:latin typeface="Calibri"/>
              </a:rPr>
              <a:t>Presentation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Streamlit 1.66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691640"/>
            <a:ext cx="82753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Turns app.py into a web page, re-runs it on every click, streams the answer live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06040"/>
            <a:ext cx="2651760" cy="777240"/>
          </a:xfrm>
          <a:prstGeom prst="roundRect">
            <a:avLst>
              <a:gd name="adj" fmla="val 12000"/>
            </a:avLst>
          </a:prstGeom>
          <a:solidFill>
            <a:srgbClr val="F1EAF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7C3AED"/>
                </a:solidFill>
                <a:latin typeface="Calibri"/>
              </a:rPr>
              <a:t>Orchestration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langchain-core 1.7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606040"/>
            <a:ext cx="82753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ChatPromptTemplate | ChatHuggingFace | StrOutputParser: prompt in, plain text 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20440"/>
            <a:ext cx="2651760" cy="777240"/>
          </a:xfrm>
          <a:prstGeom prst="roundRect">
            <a:avLst>
              <a:gd name="adj" fmla="val 12000"/>
            </a:avLst>
          </a:prstGeom>
          <a:solidFill>
            <a:srgbClr val="E6F6F4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F766E"/>
                </a:solidFill>
                <a:latin typeface="Calibri"/>
              </a:rPr>
              <a:t>Model integration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langchain-huggingface 1.2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3520440"/>
            <a:ext cx="82753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HuggingFaceEndpoint: model id, max_new_tokens, temperature; makes the HTTPS 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34840"/>
            <a:ext cx="26517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F766E"/>
                </a:solidFill>
                <a:latin typeface="Calibri"/>
              </a:rPr>
              <a:t>Model serving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HF Inference Providers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4434840"/>
            <a:ext cx="82753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The router picks a provider (groq, nscale, deepinfra, …) that runs the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49240"/>
            <a:ext cx="2651760" cy="777240"/>
          </a:xfrm>
          <a:prstGeom prst="roundRect">
            <a:avLst>
              <a:gd name="adj" fmla="val 12000"/>
            </a:avLst>
          </a:prstGeom>
          <a:solidFill>
            <a:srgbClr val="FEF3E2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B45309"/>
                </a:solidFill>
                <a:latin typeface="Calibri"/>
              </a:rPr>
              <a:t>Configuration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sidebar · secrets · HF_TOKEN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5349240"/>
            <a:ext cx="82753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Supplies the API token; never printed, and secrets.toml is git-ignored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0">
                <a:solidFill>
                  <a:srgbClr val="8A94A3"/>
                </a:solidFill>
                <a:latin typeface="Calibri"/>
              </a:rPr>
              <a:t>Text Generation Playground  ·  09-ai-competencies/inference-model-apis/text-generation-app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000" b="0">
                <a:solidFill>
                  <a:srgbClr val="8A94A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Configuration and error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0">
                <a:solidFill>
                  <a:srgbClr val="5B6778"/>
                </a:solidFill>
                <a:latin typeface="Calibri"/>
              </a:rPr>
              <a:t>Where the token comes from, and what each failure means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097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029200" cy="4526280"/>
          </a:xfrm>
          <a:prstGeom prst="roundRect">
            <a:avLst>
              <a:gd name="adj" fmla="val 5000"/>
            </a:avLst>
          </a:prstGeom>
          <a:solidFill>
            <a:srgbClr val="FFFBF5"/>
          </a:solidFill>
          <a:ln w="15875">
            <a:solidFill>
              <a:srgbClr val="B453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46504"/>
            <a:ext cx="47548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Calibri"/>
              </a:rPr>
              <a:t>TOKEN RESOLUTION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4480560" cy="822960"/>
          </a:xfrm>
          <a:prstGeom prst="roundRect">
            <a:avLst>
              <a:gd name="adj" fmla="val 12000"/>
            </a:avLst>
          </a:prstGeom>
          <a:solidFill>
            <a:srgbClr val="FEF3E2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B45309"/>
                </a:solidFill>
                <a:latin typeface="Calibri"/>
              </a:rPr>
              <a:t>1. Sidebar password box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typed in the browser; never printed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63240" y="2971800"/>
            <a:ext cx="0" cy="228600"/>
          </a:xfrm>
          <a:prstGeom prst="line">
            <a:avLst/>
          </a:prstGeom>
          <a:ln w="19050">
            <a:solidFill>
              <a:srgbClr val="B453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2944368"/>
            <a:ext cx="164592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0">
                <a:solidFill>
                  <a:srgbClr val="5B6778"/>
                </a:solidFill>
                <a:latin typeface="Calibri"/>
              </a:rPr>
              <a:t>if empty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00400"/>
            <a:ext cx="4480560" cy="822960"/>
          </a:xfrm>
          <a:prstGeom prst="roundRect">
            <a:avLst>
              <a:gd name="adj" fmla="val 12000"/>
            </a:avLst>
          </a:prstGeom>
          <a:solidFill>
            <a:srgbClr val="FEF3E2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B45309"/>
                </a:solidFill>
                <a:latin typeface="Calibri"/>
              </a:rPr>
              <a:t>2. .streamlit/secrets.toml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HF_TOKEN = "hf_…"  (git-ignored)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63240" y="4023360"/>
            <a:ext cx="0" cy="228600"/>
          </a:xfrm>
          <a:prstGeom prst="line">
            <a:avLst/>
          </a:prstGeom>
          <a:ln w="19050">
            <a:solidFill>
              <a:srgbClr val="B453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00400" y="3995928"/>
            <a:ext cx="164592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0">
                <a:solidFill>
                  <a:srgbClr val="5B6778"/>
                </a:solidFill>
                <a:latin typeface="Calibri"/>
              </a:rPr>
              <a:t>if empty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251960"/>
            <a:ext cx="4480560" cy="822960"/>
          </a:xfrm>
          <a:prstGeom prst="roundRect">
            <a:avLst>
              <a:gd name="adj" fmla="val 12000"/>
            </a:avLst>
          </a:prstGeom>
          <a:solidFill>
            <a:srgbClr val="FEF3E2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B45309"/>
                </a:solidFill>
                <a:latin typeface="Calibri"/>
              </a:rPr>
              <a:t>3. HF_TOKEN environment variable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for servers and deployment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349240"/>
            <a:ext cx="44805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B91C1C"/>
                </a:solidFill>
                <a:latin typeface="Calibri"/>
              </a:rPr>
              <a:t>No token → “Please enter your token”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691640"/>
            <a:ext cx="5715000" cy="4526280"/>
          </a:xfrm>
          <a:prstGeom prst="roundRect">
            <a:avLst>
              <a:gd name="adj" fmla="val 5000"/>
            </a:avLst>
          </a:prstGeom>
          <a:solidFill>
            <a:srgbClr val="F8FDFC"/>
          </a:solidFill>
          <a:ln w="15875">
            <a:solidFill>
              <a:srgbClr val="0F766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746504"/>
            <a:ext cx="54406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ERRORS FROM HUGGING FACE  →  WHAT THE APP TELLS YOU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148840"/>
            <a:ext cx="868680" cy="621792"/>
          </a:xfrm>
          <a:prstGeom prst="roundRect">
            <a:avLst>
              <a:gd name="adj" fmla="val 12000"/>
            </a:avLst>
          </a:prstGeom>
          <a:solidFill>
            <a:srgbClr val="B91C1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2148840"/>
            <a:ext cx="416052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Token rejected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copy the whole token / create a new 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935224"/>
            <a:ext cx="868680" cy="621792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2935224"/>
            <a:ext cx="416052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Out of credits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monthly reset, add credits, or run locally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21608"/>
            <a:ext cx="868680" cy="621792"/>
          </a:xfrm>
          <a:prstGeom prst="roundRect">
            <a:avLst>
              <a:gd name="adj" fmla="val 12000"/>
            </a:avLst>
          </a:prstGeom>
          <a:solidFill>
            <a:srgbClr val="B91C1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3721608"/>
            <a:ext cx="416052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Not allowed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licence pending, or token lacks Inference permission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507992"/>
            <a:ext cx="868680" cy="621792"/>
          </a:xfrm>
          <a:prstGeom prst="roundRect">
            <a:avLst>
              <a:gd name="adj" fmla="val 12000"/>
            </a:avLst>
          </a:prstGeom>
          <a:solidFill>
            <a:srgbClr val="8A94A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4507992"/>
            <a:ext cx="416052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No provider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pick another model / enable providers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294376"/>
            <a:ext cx="868680" cy="621792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429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0" y="5294376"/>
            <a:ext cx="416052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Rate limited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wait and retry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0">
                <a:solidFill>
                  <a:srgbClr val="8A94A3"/>
                </a:solidFill>
                <a:latin typeface="Calibri"/>
              </a:rPr>
              <a:t>Text Generation Playground  ·  09-ai-competencies/inference-model-apis/text-generation-app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000" b="0">
                <a:solidFill>
                  <a:srgbClr val="8A94A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